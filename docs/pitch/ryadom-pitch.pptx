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Рядом помогает в трёх направлениях: отслеживать путь к цели, прокачивать навыки и помнить прошлые ошибки, чтобы не повторять их. Для этого сохраняет личный контекст из записей и разговоров. Проект открытый, его можно развернуть у себя.</a:t>
            </a:r>
          </a:p>
          <a:p>
            <a:endParaRPr/>
          </a:p>
          <a:p>
            <a:r>
              <a:t>Основания: Позиционирование и аудитория уточнены владельцем в текущем запросе; GitHub repository metadata: visibility public, checked 2026-10-25; README.md, UPSTREAM.md, app/LICENSE, origin/codex/integration-ui 491a8e1; Актуальный компактный маскот с двух листов, приложенных владельцем; старый лендинговый вариант заменён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Наша аудитория — люди, которые хотят развиваться и лучше понимать свою жизнь. В заметках остаются фрагменты дня, но связь с целями теряется. Рядом сохраняет эту связь для саморефлексии. Первый работающий сценарий — подготовка к собеседованию.</a:t>
            </a:r>
          </a:p>
          <a:p>
            <a:endParaRPr/>
          </a:p>
          <a:p>
            <a:r>
              <a:t>Основания: Определение аудитории и ценности дано владельцем в текущем запросе; PRODUCT.md и HACKATHON_ROADMAP.md: контекст, цель, критерии, рефлексия; Обучение/привычки — направления применения концепции, а не проверенные отдельные интеграции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 разных примера. Путь к цели: готовлюсь к собеседованию, вижу сделанное и оставшиеся шаги. Навык: осваиваю SQL, практикую JOIN, возвращаюсь к сложным темам и вижу прогресс. Прошлые ошибки: уже перегрузил себя и сорвал сроки; перед новой нагрузкой возвращаюсь к этому опыту, чтобы не повторить ошибку. Это иллюстрации пользовательских сценариев, не результаты замера эффективности.</a:t>
            </a:r>
          </a:p>
          <a:p>
            <a:endParaRPr/>
          </a:p>
          <a:p>
            <a:r>
              <a:t>Основания: Три направления и потребность в примерах уточнены владельцем в текущем запросе; features/goals: произвольная цель и критерии; context хранит obstacles и uncertain с цитатами; origin/main 93f2ab6: docs/features/HOME_PAGE.md — три направления и границы навыков/прошлого опыта; docs/features/CONTEXT_CHAT_DEPLOYMENT.md: public release 15ab6eb, чат по проверенным цитатам; отдельный профиль навыков и готовый учебный план не заявляются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Наше отличие — прогресс с основанием. «Завтра отправлю» остаётся намерением. «Сегодня отправил» становится предложением события с точной цитатой. Человек проверяет источник и подтверждает действие. Только после этого сервер увеличивает счётчик.</a:t>
            </a:r>
          </a:p>
          <a:p>
            <a:endParaRPr/>
          </a:p>
          <a:p>
            <a:r>
              <a:t>Основания: HACKATHON_ROADMAP.md: «Покажи, почему ты считаешь, что я продвинулся»; features/context/extraction.ts, validation.ts; features/goals/progress.ts, store.ts; Только confirmed completed_action; не заявляется отсутствие аналогов на рынке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Текст сразу поступает в LLM, аудио сначала распознаёт faster-whisper. Модель связывает события с критериями. Сервер на TypeScript проверяет схему и дословность цитаты, атомарно сохраняет память и считает только подтверждённые действия. Интерфейс сделан на React.</a:t>
            </a:r>
          </a:p>
          <a:p>
            <a:endParaRPr/>
          </a:p>
          <a:p>
            <a:r>
              <a:t>Основания: services/stt/src/ryadom_stt: local base/ru STT; features/context/ingestion.ts, providers.ts, validation.ts; Gemini adapter is configured implementation behind generic LLM label; features/goals/storage.ts, store.ts, progress.ts; gateway/hackathon-config.ts; Цель задаётся формой. Следующий шаг — правило; это не модельный коучинг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Это настоящий серверный интерфейс с синтетической аудиозаписью. Здесь есть цитата, реальный таймкод и подтверждённая отправка резюме — один из одного. Проверены повтор файла, мобильный экран и восстановление памяти. На живом показе откроем источник и подтвердим новое действие.</a:t>
            </a:r>
          </a:p>
          <a:p>
            <a:endParaRPr/>
          </a:p>
          <a:p>
            <a:r>
              <a:t>Основания: Production source eba453caec424c47a31c8f8947a83ed9389dc8a3; summary.json на integration-ui 491a8e1; C: 7 audio UI checks PASS, source build, text, restore; A: ef360ae runtime-equivalent, diagnostic recovery for audio, initial failures preserved; A-authored resume-test executed by C on exact eba source PASS 1/1; не заявлять clean exact-C независимый A run; Скриншот не является нарисованным мокапом; свежий local text/Gemini прогон отдельно в live-capture.md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Работу разделили на три зоны. A делал цели, прогресс и выпуск. B — извлечение контекста, цитаты и аудио. C — интерфейс, контракт и интеграцию. У каждого была своя ветка и границы файлов. Результаты передавали коммитами и handoff-документами.</a:t>
            </a:r>
          </a:p>
          <a:p>
            <a:endParaRPr/>
          </a:p>
          <a:p>
            <a:r>
              <a:t>Основания: docs/agents/START_HERE.md, ITERATION_2.md, HACKATHON_ROADMAP.md; A, Git author Jessby: 589b4ec goals core; f0b849b source release; B, Git author nelegal95-borz: 59e9f84 context; 7d5c109 STT service; C, Git author Nikita Mozgin: 35b093b UI; ef360ae merge audio; имя участника сверх Git-подписи не выводилось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использовали и в продукте, и в разработке. Команда задавала контракт и критерии. Codex-агенты писали код и тесты в отдельных ветках, проводили реальные прогоны, сохраняли результаты и ошибки. Затем шли ревью и интеграция. Этот цикл виден в истории репозитория.</a:t>
            </a:r>
          </a:p>
          <a:p>
            <a:endParaRPr/>
          </a:p>
          <a:p>
            <a:r>
              <a:t>Основания: AGENTS.md, docs/agents/GOAL_PROMPTS.md, ITERATION_2.md, docs/handoffs/agent-{a,b,c}*.md; Git history: context 59e9f84, goals 589b4ec, integration 7410da5/9a2d0e1/35b093b, audio 7d5c109, release evidence ad779d9; Не заявляется собственный универсальный multi-agent framework или автоматическая переписка между машинами; Наличие тестового кода отдельно от живой Gemini/STT приёмки; сохранены первоначальные ошибки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Главный вопрос — куда уходит личный контекст. Код открыт, приложение можно поставить на свой сервер и проверить его работу. Память хранится там, пользователь сам выбирает импорт. Честная граница: текущий MVP отправляет выбранный текст или расшифровку внешней LLM. Полностью локальная обработка — следующий этап.</a:t>
            </a:r>
          </a:p>
          <a:p>
            <a:endParaRPr/>
          </a:p>
          <a:p>
            <a:r>
              <a:t>Основания: GitHub connector get_repo: repository Mozgiii9/vibecoding-hackathon-hse visibility public, проверено 2026-10-25; README.md source-build, UPSTREAM.md, app/LICENSE MIT, source and source packaging доступны в ветке codex/integration-ui; features/context/providers.ts: внешняя LLM получает контекст и критерии; local STT не означает local LLM; MVP core uses file memory on self-host instance; сам факт открытого кода не означает отсутствие внешних запросов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План монетизации зависит от того, чьи модели используются. Со своей моделью или API-ключом проект бесплатный, пользователь оплачивает только своего провайдера. Для наших моделей планируем подписку. Цену и расчётный период не фиксируем. Оплата в MVP не реализована. Дальнейшее развитие — подключённые сервисы, интервью о цели и локальная обработка.</a:t>
            </a:r>
          </a:p>
          <a:p>
            <a:endParaRPr/>
          </a:p>
          <a:p>
            <a:r>
              <a:t>Основания: Актуальное уточнение владельца: подписка только при использовании наших нейронок; со своими — проект бесплатный, провайдер оплачивается напрямую; Тариф, период и платёжная система не заявляются реализованными; прежнее предложение цены отменено; HACKATHON_ROADMAP.md/PRODUCT.md: сервисы, интервью, локальная модель как направления; MIT-основа BrainDrive: авторизация, сервер, чат и файловая память. Наш вклад: цели/evidence, импорт text/audio, review/progress, UI и source release. Атрибуция сохранена в app/LICENSE и UPSTREAM.md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AE186A5-D8BD-4EF1-8B72-48AAAE381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4D5BD7B-7B53-4A52-97FA-39F4580772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475A2AE-9060-4136-9232-78F5121D0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790DC87-C2F3-4C45-961C-53FE2317A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F4D5546-603C-499B-972E-F6C35A744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6BF1F8-E295-424C-A84F-D0C0A65F0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9A050D-2952-49AB-A9E5-23447B7EE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8175A77-9F23-4D8B-B077-E0728E2BA0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20FB529-82A1-49F2-AB25-7D1AC18FA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7D94FC4-95BC-4B87-BFB8-E0BE77E99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firefly-right-wings">
            <a:extLst>
              <a:ext uri="{FF2B5EF4-FFF2-40B4-BE49-F238E27FC236}">
                <a16:creationId xmlns:a16="http://schemas.microsoft.com/office/drawing/2014/main" id="{5D534C30-E9AF-92D9-02B3-E47ACAD4ED2F}"/>
              </a:ext>
            </a:extLst>
          </p:cNvPr>
          <p:cNvGrpSpPr/>
          <p:nvPr/>
        </p:nvGrpSpPr>
        <p:grpSpPr>
          <a:xfrm>
            <a:off x="8545530" y="2815973"/>
            <a:ext cx="2923281" cy="2152597"/>
            <a:chOff x="8545530" y="2815973"/>
            <a:chExt cx="2923281" cy="2152597"/>
          </a:xfrm>
        </p:grpSpPr>
        <p:pic>
          <p:nvPicPr>
            <p:cNvPr id="10" name="firefly-right-wings-pixels"/>
            <p:cNvPicPr>
              <a:picLocks noChangeAspect="1"/>
            </p:cNvPicPr>
            <p:nvPr/>
          </p:nvPicPr>
          <p:blipFill>
            <a:blip r:embed="rId3"/>
            <a:srcRect l="64434" t="35912" r="4144" b="29098"/>
            <a:stretch>
              <a:fillRect/>
            </a:stretch>
          </p:blipFill>
          <p:spPr>
            <a:xfrm>
              <a:off x="9957342" y="2815973"/>
              <a:ext cx="1511469" cy="1262326"/>
            </a:xfrm>
            <a:custGeom>
              <a:avLst/>
              <a:gdLst/>
              <a:ahLst/>
              <a:cxnLst/>
              <a:rect l="0" t="0" r="w" b="h"/>
              <a:pathLst>
                <a:path w="455" h="380" stroke="0" extrusionOk="0">
                  <a:moveTo>
                    <a:pt x="455" y="100"/>
                  </a:moveTo>
                  <a:lnTo>
                    <a:pt x="435" y="210"/>
                  </a:lnTo>
                  <a:lnTo>
                    <a:pt x="360" y="310"/>
                  </a:lnTo>
                  <a:lnTo>
                    <a:pt x="265" y="370"/>
                  </a:lnTo>
                  <a:lnTo>
                    <a:pt x="92" y="380"/>
                  </a:lnTo>
                  <a:lnTo>
                    <a:pt x="0" y="340"/>
                  </a:lnTo>
                  <a:lnTo>
                    <a:pt x="0" y="308"/>
                  </a:lnTo>
                  <a:lnTo>
                    <a:pt x="11" y="287"/>
                  </a:lnTo>
                  <a:lnTo>
                    <a:pt x="30" y="287"/>
                  </a:lnTo>
                  <a:lnTo>
                    <a:pt x="30" y="268"/>
                  </a:lnTo>
                  <a:lnTo>
                    <a:pt x="48" y="268"/>
                  </a:lnTo>
                  <a:lnTo>
                    <a:pt x="48" y="249"/>
                  </a:lnTo>
                  <a:lnTo>
                    <a:pt x="66" y="249"/>
                  </a:lnTo>
                  <a:lnTo>
                    <a:pt x="66" y="218"/>
                  </a:lnTo>
                  <a:lnTo>
                    <a:pt x="85" y="218"/>
                  </a:lnTo>
                  <a:lnTo>
                    <a:pt x="85" y="105"/>
                  </a:lnTo>
                  <a:lnTo>
                    <a:pt x="115" y="60"/>
                  </a:lnTo>
                  <a:lnTo>
                    <a:pt x="195" y="0"/>
                  </a:lnTo>
                  <a:lnTo>
                    <a:pt x="455" y="0"/>
                  </a:lnTo>
                  <a:close/>
                </a:path>
              </a:pathLst>
            </a:custGeom>
          </p:spPr>
        </p:pic>
        <p:sp>
          <p:nvSpPr>
            <p:cNvPr id="13" name="firefly-right-wings-pivot-frame">
              <a:extLst>
                <a:ext uri="{FF2B5EF4-FFF2-40B4-BE49-F238E27FC236}">
                  <a16:creationId xmlns:a16="http://schemas.microsoft.com/office/drawing/2014/main" id="{182322E0-A5B2-4A52-4C99-0C3226E84B1C}"/>
                </a:ext>
              </a:extLst>
            </p:cNvPr>
            <p:cNvSpPr/>
            <p:nvPr/>
          </p:nvSpPr>
          <p:spPr>
            <a:xfrm>
              <a:off x="8545530" y="2815973"/>
              <a:ext cx="2923281" cy="2152597"/>
            </a:xfrm>
            <a:prstGeom prst="rect">
              <a:avLst/>
            </a:prstGeom>
            <a:noFill/>
            <a:ln w="19050">
              <a:noFill/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" name="firefly-left-wings">
            <a:extLst>
              <a:ext uri="{FF2B5EF4-FFF2-40B4-BE49-F238E27FC236}">
                <a16:creationId xmlns:a16="http://schemas.microsoft.com/office/drawing/2014/main" id="{AD4C4306-16A3-A443-F7B1-9FEA585ACCFD}"/>
              </a:ext>
            </a:extLst>
          </p:cNvPr>
          <p:cNvGrpSpPr/>
          <p:nvPr/>
        </p:nvGrpSpPr>
        <p:grpSpPr>
          <a:xfrm>
            <a:off x="7057315" y="2815973"/>
            <a:ext cx="2923280" cy="2152597"/>
            <a:chOff x="7057315" y="2815973"/>
            <a:chExt cx="2923280" cy="2152597"/>
          </a:xfrm>
        </p:grpSpPr>
        <p:pic>
          <p:nvPicPr>
            <p:cNvPr id="9" name="firefly-left-wings-pixels"/>
            <p:cNvPicPr>
              <a:picLocks noChangeAspect="1"/>
            </p:cNvPicPr>
            <p:nvPr/>
          </p:nvPicPr>
          <p:blipFill>
            <a:blip r:embed="rId3"/>
            <a:srcRect l="4144" t="35912" r="64434" b="29098"/>
            <a:stretch>
              <a:fillRect/>
            </a:stretch>
          </p:blipFill>
          <p:spPr>
            <a:xfrm>
              <a:off x="7057315" y="2815973"/>
              <a:ext cx="1511469" cy="1262326"/>
            </a:xfrm>
            <a:custGeom>
              <a:avLst/>
              <a:gdLst/>
              <a:ahLst/>
              <a:cxnLst/>
              <a:rect l="0" t="0" r="w" b="h"/>
              <a:pathLst>
                <a:path w="455" h="380" stroke="0" extrusionOk="0">
                  <a:moveTo>
                    <a:pt x="0" y="0"/>
                  </a:moveTo>
                  <a:lnTo>
                    <a:pt x="260" y="0"/>
                  </a:lnTo>
                  <a:lnTo>
                    <a:pt x="340" y="60"/>
                  </a:lnTo>
                  <a:lnTo>
                    <a:pt x="370" y="105"/>
                  </a:lnTo>
                  <a:lnTo>
                    <a:pt x="370" y="218"/>
                  </a:lnTo>
                  <a:lnTo>
                    <a:pt x="389" y="218"/>
                  </a:lnTo>
                  <a:lnTo>
                    <a:pt x="389" y="249"/>
                  </a:lnTo>
                  <a:lnTo>
                    <a:pt x="407" y="249"/>
                  </a:lnTo>
                  <a:lnTo>
                    <a:pt x="407" y="268"/>
                  </a:lnTo>
                  <a:lnTo>
                    <a:pt x="425" y="268"/>
                  </a:lnTo>
                  <a:lnTo>
                    <a:pt x="425" y="287"/>
                  </a:lnTo>
                  <a:lnTo>
                    <a:pt x="444" y="287"/>
                  </a:lnTo>
                  <a:lnTo>
                    <a:pt x="455" y="308"/>
                  </a:lnTo>
                  <a:lnTo>
                    <a:pt x="455" y="340"/>
                  </a:lnTo>
                  <a:lnTo>
                    <a:pt x="363" y="380"/>
                  </a:lnTo>
                  <a:lnTo>
                    <a:pt x="190" y="370"/>
                  </a:lnTo>
                  <a:lnTo>
                    <a:pt x="95" y="310"/>
                  </a:lnTo>
                  <a:lnTo>
                    <a:pt x="20" y="210"/>
                  </a:lnTo>
                  <a:lnTo>
                    <a:pt x="0" y="100"/>
                  </a:lnTo>
                  <a:close/>
                </a:path>
              </a:pathLst>
            </a:custGeom>
          </p:spPr>
        </p:pic>
        <p:sp>
          <p:nvSpPr>
            <p:cNvPr id="11" name="firefly-left-wings-pivot-frame">
              <a:extLst>
                <a:ext uri="{FF2B5EF4-FFF2-40B4-BE49-F238E27FC236}">
                  <a16:creationId xmlns:a16="http://schemas.microsoft.com/office/drawing/2014/main" id="{7C08C60F-9496-3DF6-FE7D-45E8A0ADC2AE}"/>
                </a:ext>
              </a:extLst>
            </p:cNvPr>
            <p:cNvSpPr/>
            <p:nvPr/>
          </p:nvSpPr>
          <p:spPr>
            <a:xfrm>
              <a:off x="7057315" y="2815973"/>
              <a:ext cx="2923280" cy="2152597"/>
            </a:xfrm>
            <a:prstGeom prst="rect">
              <a:avLst/>
            </a:prstGeom>
            <a:noFill/>
            <a:ln w="19050">
              <a:noFill/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8" name="section">
            <a:extLst>
              <a:ext uri="{FF2B5EF4-FFF2-40B4-BE49-F238E27FC236}">
                <a16:creationId xmlns:a16="http://schemas.microsoft.com/office/drawing/2014/main" id="{8C6F8382-9A55-4AE4-8A51-10C7714D039A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9286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ВТОРОЙ МОЗГ ДЛЯ САМОРАЗВИТИЯ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AFA15B72-C830-4EC3-BAA5-3E31FFA4C081}"/>
              </a:ext>
            </a:extLst>
          </p:cNvPr>
          <p:cNvSpPr>
            <a:spLocks noGrp="1"/>
          </p:cNvSpPr>
          <p:nvPr/>
        </p:nvSpPr>
        <p:spPr>
          <a:xfrm>
            <a:off x="10991850" y="352425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F8B77"/>
                </a:solidFill>
                <a:latin typeface="Segoe UI"/>
                <a:ea typeface="Segoe UI"/>
                <a:cs typeface="Segoe UI"/>
              </a:rPr>
              <a:t>1 / 10</a:t>
            </a:r>
          </a:p>
        </p:txBody>
      </p:sp>
      <p:sp>
        <p:nvSpPr>
          <p:cNvPr id="3" name="brand">
            <a:extLst>
              <a:ext uri="{FF2B5EF4-FFF2-40B4-BE49-F238E27FC236}">
                <a16:creationId xmlns:a16="http://schemas.microsoft.com/office/drawing/2014/main" id="{AC276995-655D-4981-914F-7A1057CFEDAD}"/>
              </a:ext>
            </a:extLst>
          </p:cNvPr>
          <p:cNvSpPr>
            <a:spLocks noGrp="1"/>
          </p:cNvSpPr>
          <p:nvPr/>
        </p:nvSpPr>
        <p:spPr>
          <a:xfrm>
            <a:off x="590550" y="1466850"/>
            <a:ext cx="6334125" cy="1257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78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78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78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78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78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78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78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78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78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78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78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7800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Рядом</a:t>
            </a:r>
          </a:p>
        </p:txBody>
      </p:sp>
      <p:sp>
        <p:nvSpPr>
          <p:cNvPr id="4" name="promise">
            <a:extLst>
              <a:ext uri="{FF2B5EF4-FFF2-40B4-BE49-F238E27FC236}">
                <a16:creationId xmlns:a16="http://schemas.microsoft.com/office/drawing/2014/main" id="{EEE75A42-5197-4120-9B08-09902CE62B70}"/>
              </a:ext>
            </a:extLst>
          </p:cNvPr>
          <p:cNvSpPr>
            <a:spLocks noGrp="1"/>
          </p:cNvSpPr>
          <p:nvPr/>
        </p:nvSpPr>
        <p:spPr>
          <a:xfrm>
            <a:off x="628650" y="2886075"/>
            <a:ext cx="6286500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4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Отслеживать путь к цели.</a:t>
            </a:r>
          </a:p>
          <a:p>
            <a:pPr>
              <a:defRPr sz="24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Прокачивать свои навыки.</a:t>
            </a:r>
          </a:p>
          <a:p>
            <a:pPr>
              <a:defRPr sz="24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Не повторять прошлые ошибки.</a:t>
            </a:r>
          </a:p>
        </p:txBody>
      </p:sp>
      <p:sp>
        <p:nvSpPr>
          <p:cNvPr id="5" name="trust">
            <a:extLst>
              <a:ext uri="{FF2B5EF4-FFF2-40B4-BE49-F238E27FC236}">
                <a16:creationId xmlns:a16="http://schemas.microsoft.com/office/drawing/2014/main" id="{A4F582FF-C54D-4097-AA9C-FFDF3AF28C7F}"/>
              </a:ext>
            </a:extLst>
          </p:cNvPr>
          <p:cNvSpPr>
            <a:spLocks noGrp="1"/>
          </p:cNvSpPr>
          <p:nvPr/>
        </p:nvSpPr>
        <p:spPr>
          <a:xfrm>
            <a:off x="647700" y="4743450"/>
            <a:ext cx="62388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B7CBA4"/>
                </a:solidFill>
                <a:latin typeface="Segoe UI"/>
                <a:ea typeface="Segoe UI"/>
                <a:cs typeface="Segoe UI"/>
              </a:rPr>
              <a:t>Open source. Свой сервер.</a:t>
            </a:r>
          </a:p>
        </p:txBody>
      </p:sp>
      <p:sp>
        <p:nvSpPr>
          <p:cNvPr id="6" name="cover-caption">
            <a:extLst>
              <a:ext uri="{FF2B5EF4-FFF2-40B4-BE49-F238E27FC236}">
                <a16:creationId xmlns:a16="http://schemas.microsoft.com/office/drawing/2014/main" id="{DADB3D57-5608-405D-897A-678579A22B6D}"/>
              </a:ext>
            </a:extLst>
          </p:cNvPr>
          <p:cNvSpPr>
            <a:spLocks noGrp="1"/>
          </p:cNvSpPr>
          <p:nvPr/>
        </p:nvSpPr>
        <p:spPr>
          <a:xfrm>
            <a:off x="647700" y="5514975"/>
            <a:ext cx="6191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Хакатон ВШЭ</a:t>
            </a:r>
          </a:p>
          <a:p>
            <a: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25 октября 2026</a:t>
            </a:r>
          </a:p>
        </p:txBody>
      </p:sp>
      <p:pic>
        <p:nvPicPr>
          <p:cNvPr id="7" name="firefly-bod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20428"/>
            <a:ext cx="4810125" cy="3607594"/>
          </a:xfrm>
          <a:custGeom>
            <a:avLst/>
            <a:gdLst/>
            <a:ahLst/>
            <a:cxnLst/>
            <a:rect l="0" t="0" r="w" b="h"/>
            <a:pathLst>
              <a:path w="1448" h="1086" stroke="0" extrusionOk="0">
                <a:moveTo>
                  <a:pt x="0" y="0"/>
                </a:moveTo>
                <a:lnTo>
                  <a:pt x="1448" y="0"/>
                </a:lnTo>
                <a:lnTo>
                  <a:pt x="1448" y="1086"/>
                </a:lnTo>
                <a:lnTo>
                  <a:pt x="0" y="1086"/>
                </a:lnTo>
                <a:close/>
                <a:moveTo>
                  <a:pt x="60" y="490"/>
                </a:moveTo>
                <a:lnTo>
                  <a:pt x="80" y="600"/>
                </a:lnTo>
                <a:lnTo>
                  <a:pt x="155" y="700"/>
                </a:lnTo>
                <a:lnTo>
                  <a:pt x="250" y="760"/>
                </a:lnTo>
                <a:lnTo>
                  <a:pt x="423" y="770"/>
                </a:lnTo>
                <a:lnTo>
                  <a:pt x="515" y="730"/>
                </a:lnTo>
                <a:lnTo>
                  <a:pt x="515" y="698"/>
                </a:lnTo>
                <a:lnTo>
                  <a:pt x="504" y="677"/>
                </a:lnTo>
                <a:lnTo>
                  <a:pt x="485" y="677"/>
                </a:lnTo>
                <a:lnTo>
                  <a:pt x="485" y="658"/>
                </a:lnTo>
                <a:lnTo>
                  <a:pt x="467" y="658"/>
                </a:lnTo>
                <a:lnTo>
                  <a:pt x="467" y="639"/>
                </a:lnTo>
                <a:lnTo>
                  <a:pt x="449" y="639"/>
                </a:lnTo>
                <a:lnTo>
                  <a:pt x="449" y="608"/>
                </a:lnTo>
                <a:lnTo>
                  <a:pt x="430" y="608"/>
                </a:lnTo>
                <a:lnTo>
                  <a:pt x="430" y="495"/>
                </a:lnTo>
                <a:lnTo>
                  <a:pt x="400" y="450"/>
                </a:lnTo>
                <a:lnTo>
                  <a:pt x="320" y="390"/>
                </a:lnTo>
                <a:lnTo>
                  <a:pt x="60" y="390"/>
                </a:lnTo>
                <a:close/>
                <a:moveTo>
                  <a:pt x="1388" y="390"/>
                </a:moveTo>
                <a:lnTo>
                  <a:pt x="1128" y="390"/>
                </a:lnTo>
                <a:lnTo>
                  <a:pt x="1048" y="450"/>
                </a:lnTo>
                <a:lnTo>
                  <a:pt x="1018" y="495"/>
                </a:lnTo>
                <a:lnTo>
                  <a:pt x="1018" y="608"/>
                </a:lnTo>
                <a:lnTo>
                  <a:pt x="999" y="608"/>
                </a:lnTo>
                <a:lnTo>
                  <a:pt x="999" y="639"/>
                </a:lnTo>
                <a:lnTo>
                  <a:pt x="981" y="639"/>
                </a:lnTo>
                <a:lnTo>
                  <a:pt x="981" y="658"/>
                </a:lnTo>
                <a:lnTo>
                  <a:pt x="963" y="658"/>
                </a:lnTo>
                <a:lnTo>
                  <a:pt x="963" y="677"/>
                </a:lnTo>
                <a:lnTo>
                  <a:pt x="944" y="677"/>
                </a:lnTo>
                <a:lnTo>
                  <a:pt x="933" y="698"/>
                </a:lnTo>
                <a:lnTo>
                  <a:pt x="933" y="730"/>
                </a:lnTo>
                <a:lnTo>
                  <a:pt x="1025" y="770"/>
                </a:lnTo>
                <a:lnTo>
                  <a:pt x="1198" y="760"/>
                </a:lnTo>
                <a:lnTo>
                  <a:pt x="1293" y="700"/>
                </a:lnTo>
                <a:lnTo>
                  <a:pt x="1368" y="600"/>
                </a:lnTo>
                <a:lnTo>
                  <a:pt x="1388" y="49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4396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repeatCount="9999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 -0.035 E" pathEditMode="relative">
                                      <p:cBhvr from="" to="">
                                        <p:cTn id="7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" presetID="0" presetClass="entr" presetSubtype="0" repeatCount="9999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 -0.035 E" pathEditMode="relative">
                                      <p:cBhvr from="" to="">
                                        <p:cTn id="10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entr" presetSubtype="0" repeatCount="9999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 L 0 -0.035 E" pathEditMode="relative">
                                      <p:cBhvr from="" to="">
                                        <p:cTn id="13" dur="1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entr" presetSubtype="0" repeatCount="9999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Rot by="21600000" from="0" to="-360000">
                                      <p:cBhvr>
                                        <p:cTn id="16" dur="3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0" presetClass="entr" presetSubtype="0" repeatCount="9999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Rot by="21600000" from="0" to="360000">
                                      <p:cBhvr>
                                        <p:cTn id="19" dur="3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A8C6C09D-307B-4CFC-8D11-3AECD27DBCBD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9286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КОМУ ПРИГОДИТСЯ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2CE6DE5F-2276-4E9E-8189-70CD3671666D}"/>
              </a:ext>
            </a:extLst>
          </p:cNvPr>
          <p:cNvSpPr>
            <a:spLocks noGrp="1"/>
          </p:cNvSpPr>
          <p:nvPr/>
        </p:nvSpPr>
        <p:spPr>
          <a:xfrm>
            <a:off x="10991850" y="352425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F8B77"/>
                </a:solidFill>
                <a:latin typeface="Segoe UI"/>
                <a:ea typeface="Segoe UI"/>
                <a:cs typeface="Segoe UI"/>
              </a:rPr>
              <a:t>2 / 10</a:t>
            </a:r>
          </a:p>
        </p:txBody>
      </p:sp>
      <p:sp>
        <p:nvSpPr>
          <p:cNvPr id="3" name="headline">
            <a:extLst>
              <a:ext uri="{FF2B5EF4-FFF2-40B4-BE49-F238E27FC236}">
                <a16:creationId xmlns:a16="http://schemas.microsoft.com/office/drawing/2014/main" id="{A0C08723-F9F3-4E82-8212-D6344D06CF61}"/>
              </a:ext>
            </a:extLst>
          </p:cNvPr>
          <p:cNvSpPr>
            <a:spLocks noGrp="1"/>
          </p:cNvSpPr>
          <p:nvPr/>
        </p:nvSpPr>
        <p:spPr>
          <a:xfrm>
            <a:off x="609600" y="962025"/>
            <a:ext cx="1095375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3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43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43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43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43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43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43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43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43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43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43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День прошёл.</a:t>
            </a:r>
          </a:p>
          <a:p>
            <a:pPr>
              <a:defRPr sz="43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Что я вынес из него?</a:t>
            </a:r>
          </a:p>
        </p:txBody>
      </p:sp>
      <p:sp>
        <p:nvSpPr>
          <p:cNvPr id="4" name="audience-label">
            <a:extLst>
              <a:ext uri="{FF2B5EF4-FFF2-40B4-BE49-F238E27FC236}">
                <a16:creationId xmlns:a16="http://schemas.microsoft.com/office/drawing/2014/main" id="{491EFD8B-1D36-46F5-9463-B65EBB4B2156}"/>
              </a:ext>
            </a:extLst>
          </p:cNvPr>
          <p:cNvSpPr>
            <a:spLocks noGrp="1"/>
          </p:cNvSpPr>
          <p:nvPr/>
        </p:nvSpPr>
        <p:spPr>
          <a:xfrm>
            <a:off x="628650" y="2762250"/>
            <a:ext cx="7858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Для тех, кто хочет развиваться и лучше понимать себя</a:t>
            </a:r>
          </a:p>
        </p:txBody>
      </p:sp>
      <p:sp>
        <p:nvSpPr>
          <p:cNvPr id="5" name="audience">
            <a:extLst>
              <a:ext uri="{FF2B5EF4-FFF2-40B4-BE49-F238E27FC236}">
                <a16:creationId xmlns:a16="http://schemas.microsoft.com/office/drawing/2014/main" id="{492D38FF-8A8A-422F-8ACF-144AC7C1B0E3}"/>
              </a:ext>
            </a:extLst>
          </p:cNvPr>
          <p:cNvSpPr>
            <a:spLocks noGrp="1"/>
          </p:cNvSpPr>
          <p:nvPr/>
        </p:nvSpPr>
        <p:spPr>
          <a:xfrm>
            <a:off x="628650" y="3476625"/>
            <a:ext cx="77152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3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Как двигаюсь к цели?</a:t>
            </a:r>
          </a:p>
          <a:p>
            <a:pPr>
              <a:defRPr sz="23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Чему научился?</a:t>
            </a:r>
          </a:p>
          <a:p>
            <a:pPr>
              <a:defRPr sz="23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Какие ошибки уже совершал?</a:t>
            </a:r>
          </a:p>
        </p:txBody>
      </p:sp>
      <p:sp>
        <p:nvSpPr>
          <p:cNvPr id="6" name="problem">
            <a:extLst>
              <a:ext uri="{FF2B5EF4-FFF2-40B4-BE49-F238E27FC236}">
                <a16:creationId xmlns:a16="http://schemas.microsoft.com/office/drawing/2014/main" id="{8E500961-5167-4EBB-81ED-0B2D21A3DCD4}"/>
              </a:ext>
            </a:extLst>
          </p:cNvPr>
          <p:cNvSpPr>
            <a:spLocks noGrp="1"/>
          </p:cNvSpPr>
          <p:nvPr/>
        </p:nvSpPr>
        <p:spPr>
          <a:xfrm>
            <a:off x="628650" y="4953000"/>
            <a:ext cx="847725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Заметки разбросаны.</a:t>
            </a:r>
          </a:p>
          <a:p>
            <a: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Причины удач и ошибок теряются.</a:t>
            </a:r>
          </a:p>
        </p:txBody>
      </p:sp>
      <p:sp>
        <p:nvSpPr>
          <p:cNvPr id="7" name="benefit">
            <a:extLst>
              <a:ext uri="{FF2B5EF4-FFF2-40B4-BE49-F238E27FC236}">
                <a16:creationId xmlns:a16="http://schemas.microsoft.com/office/drawing/2014/main" id="{199C4E5C-ACFB-406D-898B-B5B23342A90B}"/>
              </a:ext>
            </a:extLst>
          </p:cNvPr>
          <p:cNvSpPr>
            <a:spLocks noGrp="1"/>
          </p:cNvSpPr>
          <p:nvPr/>
        </p:nvSpPr>
        <p:spPr>
          <a:xfrm>
            <a:off x="628650" y="6076950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B7CBA4"/>
                </a:solidFill>
                <a:latin typeface="Segoe UI"/>
                <a:ea typeface="Segoe UI"/>
                <a:cs typeface="Segoe UI"/>
              </a:rPr>
              <a:t>Рядом сохраняет опыт, к которому можно вернуться.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6253966-8E02-4FA6-BD3C-4DFE7E1C7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52271" y="2743200"/>
            <a:ext cx="2507584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08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ection">
            <a:extLst>
              <a:ext uri="{FF2B5EF4-FFF2-40B4-BE49-F238E27FC236}">
                <a16:creationId xmlns:a16="http://schemas.microsoft.com/office/drawing/2014/main" id="{60481F2D-0F1A-4368-9E53-192804556515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9286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ПРИМЕРЫ ИСПОЛЬЗОВАНИЯ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29DD7BF2-F96F-411C-B380-2023E6E14ABA}"/>
              </a:ext>
            </a:extLst>
          </p:cNvPr>
          <p:cNvSpPr>
            <a:spLocks noGrp="1"/>
          </p:cNvSpPr>
          <p:nvPr/>
        </p:nvSpPr>
        <p:spPr>
          <a:xfrm>
            <a:off x="10991850" y="352425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F8B77"/>
                </a:solidFill>
                <a:latin typeface="Segoe UI"/>
                <a:ea typeface="Segoe UI"/>
                <a:cs typeface="Segoe UI"/>
              </a:rPr>
              <a:t>3 / 10</a:t>
            </a:r>
          </a:p>
        </p:txBody>
      </p:sp>
      <p:sp>
        <p:nvSpPr>
          <p:cNvPr id="3" name="headline">
            <a:extLst>
              <a:ext uri="{FF2B5EF4-FFF2-40B4-BE49-F238E27FC236}">
                <a16:creationId xmlns:a16="http://schemas.microsoft.com/office/drawing/2014/main" id="{72570DCA-A55A-4FE2-8947-D8E72E47C545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36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36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36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36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36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36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36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36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36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6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3675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Три примера использования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384A780-BFE4-4C2B-995F-32D27B380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22375" y="2019300"/>
            <a:ext cx="1955800" cy="1466850"/>
          </a:xfrm>
          <a:prstGeom prst="rect">
            <a:avLst/>
          </a:prstGeom>
        </p:spPr>
      </p:pic>
      <p:sp>
        <p:nvSpPr>
          <p:cNvPr id="5" name="case-title-0">
            <a:extLst>
              <a:ext uri="{FF2B5EF4-FFF2-40B4-BE49-F238E27FC236}">
                <a16:creationId xmlns:a16="http://schemas.microsoft.com/office/drawing/2014/main" id="{5A48EAD8-38BB-4CF4-93D8-AD187ADF20FC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31908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B7CBA4"/>
                </a:solidFill>
                <a:latin typeface="Segoe UI"/>
                <a:ea typeface="Segoe UI"/>
                <a:cs typeface="Segoe UI"/>
              </a:rPr>
              <a:t>Путь к цели</a:t>
            </a:r>
          </a:p>
        </p:txBody>
      </p:sp>
      <p:sp>
        <p:nvSpPr>
          <p:cNvPr id="6" name="case-quote-0">
            <a:extLst>
              <a:ext uri="{FF2B5EF4-FFF2-40B4-BE49-F238E27FC236}">
                <a16:creationId xmlns:a16="http://schemas.microsoft.com/office/drawing/2014/main" id="{DE0C2D0A-20CD-4A99-A456-FAEB08F9E426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319087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Готовлюсь</a:t>
            </a:r>
          </a:p>
          <a:p>
            <a: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к собеседованию.</a:t>
            </a:r>
          </a:p>
        </p:txBody>
      </p:sp>
      <p:sp>
        <p:nvSpPr>
          <p:cNvPr id="7" name="case-result-0">
            <a:extLst>
              <a:ext uri="{FF2B5EF4-FFF2-40B4-BE49-F238E27FC236}">
                <a16:creationId xmlns:a16="http://schemas.microsoft.com/office/drawing/2014/main" id="{F431B1C1-AB3B-4F81-B5AE-1650F408336A}"/>
              </a:ext>
            </a:extLst>
          </p:cNvPr>
          <p:cNvSpPr>
            <a:spLocks noGrp="1"/>
          </p:cNvSpPr>
          <p:nvPr/>
        </p:nvSpPr>
        <p:spPr>
          <a:xfrm>
            <a:off x="609600" y="5362575"/>
            <a:ext cx="319087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Вижу, что уже сделал</a:t>
            </a:r>
          </a:p>
          <a:p>
            <a: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и что осталось до цели.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1A557F-2B2D-4DAE-8F9D-C257DF9B8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11221" y="2019300"/>
            <a:ext cx="1607658" cy="1466850"/>
          </a:xfrm>
          <a:prstGeom prst="rect">
            <a:avLst/>
          </a:prstGeom>
        </p:spPr>
      </p:pic>
      <p:sp>
        <p:nvSpPr>
          <p:cNvPr id="9" name="case-title-1">
            <a:extLst>
              <a:ext uri="{FF2B5EF4-FFF2-40B4-BE49-F238E27FC236}">
                <a16:creationId xmlns:a16="http://schemas.microsoft.com/office/drawing/2014/main" id="{7F6783A1-C7C7-4FF0-AF02-00AB0D3A9E29}"/>
              </a:ext>
            </a:extLst>
          </p:cNvPr>
          <p:cNvSpPr>
            <a:spLocks noGrp="1"/>
          </p:cNvSpPr>
          <p:nvPr/>
        </p:nvSpPr>
        <p:spPr>
          <a:xfrm>
            <a:off x="4524375" y="3733800"/>
            <a:ext cx="31908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Навыки</a:t>
            </a:r>
          </a:p>
        </p:txBody>
      </p:sp>
      <p:sp>
        <p:nvSpPr>
          <p:cNvPr id="10" name="case-quote-1">
            <a:extLst>
              <a:ext uri="{FF2B5EF4-FFF2-40B4-BE49-F238E27FC236}">
                <a16:creationId xmlns:a16="http://schemas.microsoft.com/office/drawing/2014/main" id="{1A92CCF4-5122-4A30-B384-A194791E1E48}"/>
              </a:ext>
            </a:extLst>
          </p:cNvPr>
          <p:cNvSpPr>
            <a:spLocks noGrp="1"/>
          </p:cNvSpPr>
          <p:nvPr/>
        </p:nvSpPr>
        <p:spPr>
          <a:xfrm>
            <a:off x="4524375" y="4362450"/>
            <a:ext cx="319087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Осваиваю SQL.</a:t>
            </a:r>
          </a:p>
          <a:p>
            <a: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Практикую JOIN.</a:t>
            </a:r>
          </a:p>
        </p:txBody>
      </p:sp>
      <p:sp>
        <p:nvSpPr>
          <p:cNvPr id="11" name="case-result-1">
            <a:extLst>
              <a:ext uri="{FF2B5EF4-FFF2-40B4-BE49-F238E27FC236}">
                <a16:creationId xmlns:a16="http://schemas.microsoft.com/office/drawing/2014/main" id="{3939C099-CF7A-4047-85BD-1B551B875D1D}"/>
              </a:ext>
            </a:extLst>
          </p:cNvPr>
          <p:cNvSpPr>
            <a:spLocks noGrp="1"/>
          </p:cNvSpPr>
          <p:nvPr/>
        </p:nvSpPr>
        <p:spPr>
          <a:xfrm>
            <a:off x="4524375" y="5362575"/>
            <a:ext cx="319087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Повторяю сложные темы.</a:t>
            </a:r>
          </a:p>
          <a:p>
            <a: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Вижу прогресс в практике.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5918EA0-214A-4F39-9C16-48F51B5B5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248109" y="2019300"/>
            <a:ext cx="1563433" cy="1466850"/>
          </a:xfrm>
          <a:prstGeom prst="rect">
            <a:avLst/>
          </a:prstGeom>
        </p:spPr>
      </p:pic>
      <p:sp>
        <p:nvSpPr>
          <p:cNvPr id="13" name="case-title-2">
            <a:extLst>
              <a:ext uri="{FF2B5EF4-FFF2-40B4-BE49-F238E27FC236}">
                <a16:creationId xmlns:a16="http://schemas.microsoft.com/office/drawing/2014/main" id="{74638850-14B9-48A2-A875-615AC517CD0C}"/>
              </a:ext>
            </a:extLst>
          </p:cNvPr>
          <p:cNvSpPr>
            <a:spLocks noGrp="1"/>
          </p:cNvSpPr>
          <p:nvPr/>
        </p:nvSpPr>
        <p:spPr>
          <a:xfrm>
            <a:off x="8439150" y="3733800"/>
            <a:ext cx="31908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C7B5D9"/>
                </a:solidFill>
                <a:latin typeface="Segoe UI"/>
                <a:ea typeface="Segoe UI"/>
                <a:cs typeface="Segoe UI"/>
              </a:rPr>
              <a:t>Прошлые ошибки</a:t>
            </a:r>
          </a:p>
        </p:txBody>
      </p:sp>
      <p:sp>
        <p:nvSpPr>
          <p:cNvPr id="14" name="case-quote-2">
            <a:extLst>
              <a:ext uri="{FF2B5EF4-FFF2-40B4-BE49-F238E27FC236}">
                <a16:creationId xmlns:a16="http://schemas.microsoft.com/office/drawing/2014/main" id="{F7EB1CAC-E11F-41C8-B2B0-3783F5744EBB}"/>
              </a:ext>
            </a:extLst>
          </p:cNvPr>
          <p:cNvSpPr>
            <a:spLocks noGrp="1"/>
          </p:cNvSpPr>
          <p:nvPr/>
        </p:nvSpPr>
        <p:spPr>
          <a:xfrm>
            <a:off x="8439150" y="4362450"/>
            <a:ext cx="319087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Перегрузил себя.</a:t>
            </a:r>
          </a:p>
          <a:p>
            <a: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Сорвал сроки.</a:t>
            </a:r>
          </a:p>
        </p:txBody>
      </p:sp>
      <p:sp>
        <p:nvSpPr>
          <p:cNvPr id="15" name="case-result-2">
            <a:extLst>
              <a:ext uri="{FF2B5EF4-FFF2-40B4-BE49-F238E27FC236}">
                <a16:creationId xmlns:a16="http://schemas.microsoft.com/office/drawing/2014/main" id="{049E4E17-6CDC-49B4-A2AC-6894B967BFCE}"/>
              </a:ext>
            </a:extLst>
          </p:cNvPr>
          <p:cNvSpPr>
            <a:spLocks noGrp="1"/>
          </p:cNvSpPr>
          <p:nvPr/>
        </p:nvSpPr>
        <p:spPr>
          <a:xfrm>
            <a:off x="8439150" y="5362575"/>
            <a:ext cx="319087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Перед новой нагрузкой</a:t>
            </a:r>
          </a:p>
          <a:p>
            <a:pPr>
              <a:defRPr sz="17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вспоминаю прошлую ошибку.</a:t>
            </a:r>
          </a:p>
        </p:txBody>
      </p:sp>
      <p:sp>
        <p:nvSpPr>
          <p:cNvPr id="16" name="case-scope">
            <a:extLst>
              <a:ext uri="{FF2B5EF4-FFF2-40B4-BE49-F238E27FC236}">
                <a16:creationId xmlns:a16="http://schemas.microsoft.com/office/drawing/2014/main" id="{B84A048A-02FE-4C0B-A566-8713A23A7AC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53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F8B77"/>
                </a:solidFill>
                <a:latin typeface="Segoe UI"/>
                <a:ea typeface="Segoe UI"/>
                <a:cs typeface="Segoe UI"/>
              </a:rPr>
              <a:t>Примеры сценариев. В основе — цель, критерии, практика и поиск по своим записям.</a:t>
            </a:r>
          </a:p>
        </p:txBody>
      </p:sp>
    </p:spTree>
    <p:extLst>
      <p:ext uri="{BB962C8B-B14F-4D97-AF65-F5344CB8AC3E}">
        <p14:creationId xmlns:p14="http://schemas.microsoft.com/office/powerpoint/2010/main" val="23225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ction">
            <a:extLst>
              <a:ext uri="{FF2B5EF4-FFF2-40B4-BE49-F238E27FC236}">
                <a16:creationId xmlns:a16="http://schemas.microsoft.com/office/drawing/2014/main" id="{9ACAB287-90AE-4843-A864-B2BC391875AD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9286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КАК СЧИТАЕТСЯ ПРОГРЕСС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F99AA2A8-FFD5-4039-BEB5-A2A7AB403F00}"/>
              </a:ext>
            </a:extLst>
          </p:cNvPr>
          <p:cNvSpPr>
            <a:spLocks noGrp="1"/>
          </p:cNvSpPr>
          <p:nvPr/>
        </p:nvSpPr>
        <p:spPr>
          <a:xfrm>
            <a:off x="10991850" y="352425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F8B77"/>
                </a:solidFill>
                <a:latin typeface="Segoe UI"/>
                <a:ea typeface="Segoe UI"/>
                <a:cs typeface="Segoe UI"/>
              </a:rPr>
              <a:t>4 / 10</a:t>
            </a:r>
          </a:p>
        </p:txBody>
      </p:sp>
      <p:sp>
        <p:nvSpPr>
          <p:cNvPr id="3" name="headline">
            <a:extLst>
              <a:ext uri="{FF2B5EF4-FFF2-40B4-BE49-F238E27FC236}">
                <a16:creationId xmlns:a16="http://schemas.microsoft.com/office/drawing/2014/main" id="{25897483-3058-450E-8FEB-185415B9B1BB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Почему засчитан этот шаг?</a:t>
            </a:r>
          </a:p>
        </p:txBody>
      </p:sp>
      <p:sp>
        <p:nvSpPr>
          <p:cNvPr id="4" name="plan-quote">
            <a:extLst>
              <a:ext uri="{FF2B5EF4-FFF2-40B4-BE49-F238E27FC236}">
                <a16:creationId xmlns:a16="http://schemas.microsoft.com/office/drawing/2014/main" id="{290C1DA4-06A7-4661-8C99-8851CFEEE0F8}"/>
              </a:ext>
            </a:extLst>
          </p:cNvPr>
          <p:cNvSpPr>
            <a:spLocks noGrp="1"/>
          </p:cNvSpPr>
          <p:nvPr/>
        </p:nvSpPr>
        <p:spPr>
          <a:xfrm>
            <a:off x="628650" y="2543175"/>
            <a:ext cx="4953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0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defPPr>
            <a:lvl1pPr>
              <a:defRPr sz="3000" b="0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1pPr>
            <a:lvl2pPr>
              <a:defRPr sz="3000" b="0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2pPr>
            <a:lvl3pPr>
              <a:defRPr sz="3000" b="0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3pPr>
            <a:lvl4pPr>
              <a:defRPr sz="3000" b="0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4pPr>
            <a:lvl5pPr>
              <a:defRPr sz="3000" b="0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5pPr>
            <a:lvl6pPr>
              <a:defRPr sz="3000" b="0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6pPr>
            <a:lvl7pPr>
              <a:defRPr sz="3000" b="0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7pPr>
            <a:lvl8pPr>
              <a:defRPr sz="3000" b="0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8pPr>
            <a:lvl9pPr>
              <a:defRPr sz="3000" b="0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000" b="0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pPr>
            <a:r>
              <a:rPr sz="3000" b="0">
                <a:solidFill>
                  <a:srgbClr val="C7B5D9"/>
                </a:solidFill>
                <a:latin typeface="Segoe UI"/>
                <a:ea typeface="Segoe UI"/>
                <a:cs typeface="Segoe UI"/>
              </a:rPr>
              <a:t>«Завтра отправлю</a:t>
            </a:r>
          </a:p>
          <a:p>
            <a:pPr>
              <a:defRPr sz="3000" b="0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pPr>
            <a:r>
              <a:rPr sz="3000" b="0">
                <a:solidFill>
                  <a:srgbClr val="C7B5D9"/>
                </a:solidFill>
                <a:latin typeface="Segoe UI"/>
                <a:ea typeface="Segoe UI"/>
                <a:cs typeface="Segoe UI"/>
              </a:rPr>
              <a:t>резюме»</a:t>
            </a:r>
          </a:p>
        </p:txBody>
      </p:sp>
      <p:sp>
        <p:nvSpPr>
          <p:cNvPr id="5" name="plan-count">
            <a:extLst>
              <a:ext uri="{FF2B5EF4-FFF2-40B4-BE49-F238E27FC236}">
                <a16:creationId xmlns:a16="http://schemas.microsoft.com/office/drawing/2014/main" id="{11C1067F-DEB3-4CA5-A685-B6CE3EFBA00F}"/>
              </a:ext>
            </a:extLst>
          </p:cNvPr>
          <p:cNvSpPr>
            <a:spLocks noGrp="1"/>
          </p:cNvSpPr>
          <p:nvPr/>
        </p:nvSpPr>
        <p:spPr>
          <a:xfrm>
            <a:off x="628650" y="3867150"/>
            <a:ext cx="161925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7200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defPPr>
            <a:lvl1pPr>
              <a:defRPr sz="7200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1pPr>
            <a:lvl2pPr>
              <a:defRPr sz="7200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2pPr>
            <a:lvl3pPr>
              <a:defRPr sz="7200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3pPr>
            <a:lvl4pPr>
              <a:defRPr sz="7200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4pPr>
            <a:lvl5pPr>
              <a:defRPr sz="7200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5pPr>
            <a:lvl6pPr>
              <a:defRPr sz="7200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6pPr>
            <a:lvl7pPr>
              <a:defRPr sz="7200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7pPr>
            <a:lvl8pPr>
              <a:defRPr sz="7200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8pPr>
            <a:lvl9pPr>
              <a:defRPr sz="7200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7200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pPr>
            <a:r>
              <a:rPr sz="7200" b="1">
                <a:solidFill>
                  <a:srgbClr val="C7B5D9"/>
                </a:solidFill>
                <a:latin typeface="Segoe UI"/>
                <a:ea typeface="Segoe UI"/>
                <a:cs typeface="Segoe UI"/>
              </a:rPr>
              <a:t>0</a:t>
            </a:r>
          </a:p>
        </p:txBody>
      </p:sp>
      <p:sp>
        <p:nvSpPr>
          <p:cNvPr id="6" name="plan-label">
            <a:extLst>
              <a:ext uri="{FF2B5EF4-FFF2-40B4-BE49-F238E27FC236}">
                <a16:creationId xmlns:a16="http://schemas.microsoft.com/office/drawing/2014/main" id="{A187439E-CA52-4213-A00B-9719B1AD197A}"/>
              </a:ext>
            </a:extLst>
          </p:cNvPr>
          <p:cNvSpPr>
            <a:spLocks noGrp="1"/>
          </p:cNvSpPr>
          <p:nvPr/>
        </p:nvSpPr>
        <p:spPr>
          <a:xfrm>
            <a:off x="2286000" y="4038600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Намерение</a:t>
            </a:r>
          </a:p>
          <a:p>
            <a: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не меняет прогресс</a:t>
            </a:r>
          </a:p>
        </p:txBody>
      </p:sp>
      <p:sp>
        <p:nvSpPr>
          <p:cNvPr id="7" name="action-quote">
            <a:extLst>
              <a:ext uri="{FF2B5EF4-FFF2-40B4-BE49-F238E27FC236}">
                <a16:creationId xmlns:a16="http://schemas.microsoft.com/office/drawing/2014/main" id="{0D5DF669-CE87-4BEB-8D61-B352D7588D1A}"/>
              </a:ext>
            </a:extLst>
          </p:cNvPr>
          <p:cNvSpPr>
            <a:spLocks noGrp="1"/>
          </p:cNvSpPr>
          <p:nvPr/>
        </p:nvSpPr>
        <p:spPr>
          <a:xfrm>
            <a:off x="6762750" y="2543175"/>
            <a:ext cx="47625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30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30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30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30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30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30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30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30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30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0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3000" b="0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«Сегодня отправил</a:t>
            </a:r>
          </a:p>
          <a:p>
            <a:pPr>
              <a:defRPr sz="3000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3000" b="0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резюме»</a:t>
            </a:r>
          </a:p>
        </p:txBody>
      </p:sp>
      <p:sp>
        <p:nvSpPr>
          <p:cNvPr id="8" name="action-count">
            <a:extLst>
              <a:ext uri="{FF2B5EF4-FFF2-40B4-BE49-F238E27FC236}">
                <a16:creationId xmlns:a16="http://schemas.microsoft.com/office/drawing/2014/main" id="{E770D366-DB0E-40C9-A12C-F1E444B0725E}"/>
              </a:ext>
            </a:extLst>
          </p:cNvPr>
          <p:cNvSpPr>
            <a:spLocks noGrp="1"/>
          </p:cNvSpPr>
          <p:nvPr/>
        </p:nvSpPr>
        <p:spPr>
          <a:xfrm>
            <a:off x="6762750" y="3867150"/>
            <a:ext cx="142875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72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defPPr>
            <a:lvl1pPr>
              <a:defRPr sz="72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1pPr>
            <a:lvl2pPr>
              <a:defRPr sz="72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2pPr>
            <a:lvl3pPr>
              <a:defRPr sz="72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3pPr>
            <a:lvl4pPr>
              <a:defRPr sz="72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4pPr>
            <a:lvl5pPr>
              <a:defRPr sz="72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5pPr>
            <a:lvl6pPr>
              <a:defRPr sz="72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6pPr>
            <a:lvl7pPr>
              <a:defRPr sz="72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7pPr>
            <a:lvl8pPr>
              <a:defRPr sz="72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8pPr>
            <a:lvl9pPr>
              <a:defRPr sz="72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72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pPr>
            <a:r>
              <a:rPr sz="7200" b="1">
                <a:solidFill>
                  <a:srgbClr val="B7CBA4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9" name="action-label">
            <a:extLst>
              <a:ext uri="{FF2B5EF4-FFF2-40B4-BE49-F238E27FC236}">
                <a16:creationId xmlns:a16="http://schemas.microsoft.com/office/drawing/2014/main" id="{FB05EEF3-7832-494A-BF71-6F9E9F1FDB11}"/>
              </a:ext>
            </a:extLst>
          </p:cNvPr>
          <p:cNvSpPr>
            <a:spLocks noGrp="1"/>
          </p:cNvSpPr>
          <p:nvPr/>
        </p:nvSpPr>
        <p:spPr>
          <a:xfrm>
            <a:off x="8305800" y="4038600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После вашей проверки</a:t>
            </a:r>
          </a:p>
          <a:p>
            <a:pPr>
              <a:defRPr sz="21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и подтверждения</a:t>
            </a:r>
          </a:p>
        </p:txBody>
      </p:sp>
      <p:sp>
        <p:nvSpPr>
          <p:cNvPr id="10" name="main-point">
            <a:extLst>
              <a:ext uri="{FF2B5EF4-FFF2-40B4-BE49-F238E27FC236}">
                <a16:creationId xmlns:a16="http://schemas.microsoft.com/office/drawing/2014/main" id="{A8E89BD4-5D9F-4771-A71C-84B3E0685080}"/>
              </a:ext>
            </a:extLst>
          </p:cNvPr>
          <p:cNvSpPr>
            <a:spLocks noGrp="1"/>
          </p:cNvSpPr>
          <p:nvPr/>
        </p:nvSpPr>
        <p:spPr>
          <a:xfrm>
            <a:off x="628650" y="57912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Модель показывает цитату. Вы решаете, засчитывать ли действие.</a:t>
            </a:r>
          </a:p>
        </p:txBody>
      </p:sp>
    </p:spTree>
    <p:extLst>
      <p:ext uri="{BB962C8B-B14F-4D97-AF65-F5344CB8AC3E}">
        <p14:creationId xmlns:p14="http://schemas.microsoft.com/office/powerpoint/2010/main" val="440707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DAB5947A-FA2C-4407-9D08-A7A96268EBE3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9229725" y="3886200"/>
            <a:ext cx="523875" cy="0"/>
          </a:xfrm>
          <a:prstGeom prst="straightConnector1">
            <a:avLst/>
          </a:prstGeom>
          <a:ln w="19050">
            <a:solidFill>
              <a:srgbClr val="6B5E51"/>
            </a:solidFill>
            <a:tailEnd type="triangle" w="sm" len="sm"/>
          </a:ln>
        </p:spPr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A9BE219C-7204-4F1A-B761-A0EC8E40A42B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6943725" y="3886200"/>
            <a:ext cx="523875" cy="0"/>
          </a:xfrm>
          <a:prstGeom prst="straightConnector1">
            <a:avLst/>
          </a:prstGeom>
          <a:ln w="19050">
            <a:solidFill>
              <a:srgbClr val="6B5E51"/>
            </a:solidFill>
            <a:tailEnd type="triangle" w="sm" len="sm"/>
          </a:ln>
        </p:spPr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BB24F9A-7AB6-4AF9-ACFB-E528BD4A6106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4657725" y="3886200"/>
            <a:ext cx="523875" cy="0"/>
          </a:xfrm>
          <a:prstGeom prst="straightConnector1">
            <a:avLst/>
          </a:prstGeom>
          <a:ln w="19050">
            <a:solidFill>
              <a:srgbClr val="6B5E51"/>
            </a:solidFill>
            <a:tailEnd type="triangle" w="sm" len="sm"/>
          </a:ln>
        </p:spPr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FF81967B-8EEB-410D-9B34-5EC52FC2E6C1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2371725" y="3886200"/>
            <a:ext cx="523875" cy="0"/>
          </a:xfrm>
          <a:prstGeom prst="straightConnector1">
            <a:avLst/>
          </a:prstGeom>
          <a:ln w="19050">
            <a:solidFill>
              <a:srgbClr val="6B5E51"/>
            </a:solidFill>
            <a:tailEnd type="triangle" w="sm" len="sm"/>
          </a:ln>
        </p:spPr>
      </p:cxnSp>
      <p:sp>
        <p:nvSpPr>
          <p:cNvPr id="21" name="section">
            <a:extLst>
              <a:ext uri="{FF2B5EF4-FFF2-40B4-BE49-F238E27FC236}">
                <a16:creationId xmlns:a16="http://schemas.microsoft.com/office/drawing/2014/main" id="{06934420-E8CF-47F0-BC1C-F77EE0865352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9286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ТЕХНИЧЕСКАЯ РЕАЛИЗАЦИЯ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0710E6AB-4E71-4D9F-863D-FD5A5FF6197E}"/>
              </a:ext>
            </a:extLst>
          </p:cNvPr>
          <p:cNvSpPr>
            <a:spLocks noGrp="1"/>
          </p:cNvSpPr>
          <p:nvPr/>
        </p:nvSpPr>
        <p:spPr>
          <a:xfrm>
            <a:off x="10991850" y="352425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F8B77"/>
                </a:solidFill>
                <a:latin typeface="Segoe UI"/>
                <a:ea typeface="Segoe UI"/>
                <a:cs typeface="Segoe UI"/>
              </a:rPr>
              <a:t>5 / 10</a:t>
            </a:r>
          </a:p>
        </p:txBody>
      </p:sp>
      <p:sp>
        <p:nvSpPr>
          <p:cNvPr id="3" name="headline">
            <a:extLst>
              <a:ext uri="{FF2B5EF4-FFF2-40B4-BE49-F238E27FC236}">
                <a16:creationId xmlns:a16="http://schemas.microsoft.com/office/drawing/2014/main" id="{337DB468-623D-4AFA-9ACC-FBAFC87FB83E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53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9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9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От записи до счётчика</a:t>
            </a:r>
          </a:p>
        </p:txBody>
      </p:sp>
      <p:sp>
        <p:nvSpPr>
          <p:cNvPr id="4" name="number-0">
            <a:extLst>
              <a:ext uri="{FF2B5EF4-FFF2-40B4-BE49-F238E27FC236}">
                <a16:creationId xmlns:a16="http://schemas.microsoft.com/office/drawing/2014/main" id="{A381ED8A-CC28-4ED3-BB4C-57672322E87F}"/>
              </a:ext>
            </a:extLst>
          </p:cNvPr>
          <p:cNvSpPr>
            <a:spLocks noGrp="1"/>
          </p:cNvSpPr>
          <p:nvPr/>
        </p:nvSpPr>
        <p:spPr>
          <a:xfrm>
            <a:off x="609600" y="2695575"/>
            <a:ext cx="17621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" name="stage-0">
            <a:extLst>
              <a:ext uri="{FF2B5EF4-FFF2-40B4-BE49-F238E27FC236}">
                <a16:creationId xmlns:a16="http://schemas.microsoft.com/office/drawing/2014/main" id="{483EBB4C-492D-4AA5-9969-525CA57FA3BE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1762125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Заметка</a:t>
            </a:r>
          </a:p>
          <a:p>
            <a: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или аудио</a:t>
            </a:r>
          </a:p>
        </p:txBody>
      </p:sp>
      <p:sp>
        <p:nvSpPr>
          <p:cNvPr id="6" name="number-1">
            <a:extLst>
              <a:ext uri="{FF2B5EF4-FFF2-40B4-BE49-F238E27FC236}">
                <a16:creationId xmlns:a16="http://schemas.microsoft.com/office/drawing/2014/main" id="{8F5D224E-8C16-4759-9FE5-C3529B2C0F7E}"/>
              </a:ext>
            </a:extLst>
          </p:cNvPr>
          <p:cNvSpPr>
            <a:spLocks noGrp="1"/>
          </p:cNvSpPr>
          <p:nvPr/>
        </p:nvSpPr>
        <p:spPr>
          <a:xfrm>
            <a:off x="2895600" y="2695575"/>
            <a:ext cx="17621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stage-1">
            <a:extLst>
              <a:ext uri="{FF2B5EF4-FFF2-40B4-BE49-F238E27FC236}">
                <a16:creationId xmlns:a16="http://schemas.microsoft.com/office/drawing/2014/main" id="{F86C97C8-AA1D-4953-BC17-D57CE2ABF002}"/>
              </a:ext>
            </a:extLst>
          </p:cNvPr>
          <p:cNvSpPr>
            <a:spLocks noGrp="1"/>
          </p:cNvSpPr>
          <p:nvPr/>
        </p:nvSpPr>
        <p:spPr>
          <a:xfrm>
            <a:off x="2895600" y="3314700"/>
            <a:ext cx="1762125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Речь в текст</a:t>
            </a:r>
          </a:p>
          <a:p>
            <a: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и LLM</a:t>
            </a:r>
          </a:p>
        </p:txBody>
      </p:sp>
      <p:sp>
        <p:nvSpPr>
          <p:cNvPr id="8" name="number-2">
            <a:extLst>
              <a:ext uri="{FF2B5EF4-FFF2-40B4-BE49-F238E27FC236}">
                <a16:creationId xmlns:a16="http://schemas.microsoft.com/office/drawing/2014/main" id="{B3CB2F86-E5BB-4D20-96A2-CAFE98C241A6}"/>
              </a:ext>
            </a:extLst>
          </p:cNvPr>
          <p:cNvSpPr>
            <a:spLocks noGrp="1"/>
          </p:cNvSpPr>
          <p:nvPr/>
        </p:nvSpPr>
        <p:spPr>
          <a:xfrm>
            <a:off x="5181600" y="2695575"/>
            <a:ext cx="17621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9" name="stage-2">
            <a:extLst>
              <a:ext uri="{FF2B5EF4-FFF2-40B4-BE49-F238E27FC236}">
                <a16:creationId xmlns:a16="http://schemas.microsoft.com/office/drawing/2014/main" id="{CD19E059-C7CF-4D1E-B4D6-4316F72BE299}"/>
              </a:ext>
            </a:extLst>
          </p:cNvPr>
          <p:cNvSpPr>
            <a:spLocks noGrp="1"/>
          </p:cNvSpPr>
          <p:nvPr/>
        </p:nvSpPr>
        <p:spPr>
          <a:xfrm>
            <a:off x="5181600" y="3314700"/>
            <a:ext cx="1762125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Событие</a:t>
            </a:r>
          </a:p>
          <a:p>
            <a: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с цитатой</a:t>
            </a:r>
          </a:p>
        </p:txBody>
      </p:sp>
      <p:sp>
        <p:nvSpPr>
          <p:cNvPr id="10" name="number-3">
            <a:extLst>
              <a:ext uri="{FF2B5EF4-FFF2-40B4-BE49-F238E27FC236}">
                <a16:creationId xmlns:a16="http://schemas.microsoft.com/office/drawing/2014/main" id="{7D2BFABB-506D-41B1-AE26-DC8818A390C9}"/>
              </a:ext>
            </a:extLst>
          </p:cNvPr>
          <p:cNvSpPr>
            <a:spLocks noGrp="1"/>
          </p:cNvSpPr>
          <p:nvPr/>
        </p:nvSpPr>
        <p:spPr>
          <a:xfrm>
            <a:off x="7467600" y="2695575"/>
            <a:ext cx="17621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0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B7CBA4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1" name="stage-3">
            <a:extLst>
              <a:ext uri="{FF2B5EF4-FFF2-40B4-BE49-F238E27FC236}">
                <a16:creationId xmlns:a16="http://schemas.microsoft.com/office/drawing/2014/main" id="{BE43D4F1-8267-4352-94C3-447D043394A2}"/>
              </a:ext>
            </a:extLst>
          </p:cNvPr>
          <p:cNvSpPr>
            <a:spLocks noGrp="1"/>
          </p:cNvSpPr>
          <p:nvPr/>
        </p:nvSpPr>
        <p:spPr>
          <a:xfrm>
            <a:off x="7467600" y="3314700"/>
            <a:ext cx="1762125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3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B7CBA4"/>
                </a:solidFill>
                <a:latin typeface="Segoe UI"/>
                <a:ea typeface="Segoe UI"/>
                <a:cs typeface="Segoe UI"/>
              </a:rPr>
              <a:t>Ваша</a:t>
            </a:r>
          </a:p>
          <a:p>
            <a:pPr>
              <a:defRPr sz="23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B7CBA4"/>
                </a:solidFill>
                <a:latin typeface="Segoe UI"/>
                <a:ea typeface="Segoe UI"/>
                <a:cs typeface="Segoe UI"/>
              </a:rPr>
              <a:t>проверка</a:t>
            </a:r>
          </a:p>
        </p:txBody>
      </p:sp>
      <p:sp>
        <p:nvSpPr>
          <p:cNvPr id="12" name="number-4">
            <a:extLst>
              <a:ext uri="{FF2B5EF4-FFF2-40B4-BE49-F238E27FC236}">
                <a16:creationId xmlns:a16="http://schemas.microsoft.com/office/drawing/2014/main" id="{D17415A8-41FF-4B6A-922F-0A6035E78A59}"/>
              </a:ext>
            </a:extLst>
          </p:cNvPr>
          <p:cNvSpPr>
            <a:spLocks noGrp="1"/>
          </p:cNvSpPr>
          <p:nvPr/>
        </p:nvSpPr>
        <p:spPr>
          <a:xfrm>
            <a:off x="9753600" y="2695575"/>
            <a:ext cx="17621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0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3" name="stage-4">
            <a:extLst>
              <a:ext uri="{FF2B5EF4-FFF2-40B4-BE49-F238E27FC236}">
                <a16:creationId xmlns:a16="http://schemas.microsoft.com/office/drawing/2014/main" id="{ABFD586A-1D27-415D-A102-EC6DF8DB7C8B}"/>
              </a:ext>
            </a:extLst>
          </p:cNvPr>
          <p:cNvSpPr>
            <a:spLocks noGrp="1"/>
          </p:cNvSpPr>
          <p:nvPr/>
        </p:nvSpPr>
        <p:spPr>
          <a:xfrm>
            <a:off x="9753600" y="3314700"/>
            <a:ext cx="1762125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Прогресс</a:t>
            </a:r>
          </a:p>
          <a:p>
            <a:pPr>
              <a:defRPr sz="23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критерия</a:t>
            </a:r>
          </a:p>
        </p:txBody>
      </p:sp>
      <p:sp>
        <p:nvSpPr>
          <p:cNvPr id="18" name="implementation">
            <a:extLst>
              <a:ext uri="{FF2B5EF4-FFF2-40B4-BE49-F238E27FC236}">
                <a16:creationId xmlns:a16="http://schemas.microsoft.com/office/drawing/2014/main" id="{DC359682-BDFF-4FC9-BA66-CA13EA3C2810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1076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00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B7CBA4"/>
                </a:solidFill>
                <a:latin typeface="Segoe UI"/>
                <a:ea typeface="Segoe UI"/>
                <a:cs typeface="Segoe UI"/>
              </a:rPr>
              <a:t>React / TypeScript     Fastify + Zod     faster-whisper</a:t>
            </a:r>
          </a:p>
        </p:txBody>
      </p:sp>
      <p:sp>
        <p:nvSpPr>
          <p:cNvPr id="19" name="server-rule">
            <a:extLst>
              <a:ext uri="{FF2B5EF4-FFF2-40B4-BE49-F238E27FC236}">
                <a16:creationId xmlns:a16="http://schemas.microsoft.com/office/drawing/2014/main" id="{EB5EDD98-0D11-4C5F-87B2-94B320FD6062}"/>
              </a:ext>
            </a:extLst>
          </p:cNvPr>
          <p:cNvSpPr>
            <a:spLocks noGrp="1"/>
          </p:cNvSpPr>
          <p:nvPr/>
        </p:nvSpPr>
        <p:spPr>
          <a:xfrm>
            <a:off x="609600" y="5553075"/>
            <a:ext cx="10953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025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Сервер проверяет цитату, сохраняет память и считает прогресс.</a:t>
            </a:r>
          </a:p>
        </p:txBody>
      </p:sp>
      <p:sp>
        <p:nvSpPr>
          <p:cNvPr id="20" name="import-boundary">
            <a:extLst>
              <a:ext uri="{FF2B5EF4-FFF2-40B4-BE49-F238E27FC236}">
                <a16:creationId xmlns:a16="http://schemas.microsoft.com/office/drawing/2014/main" id="{4A747653-97F2-4266-A71C-DAD89B39509E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Вы сами добавляете источник. Постоянной фоновой записи нет.</a:t>
            </a:r>
          </a:p>
        </p:txBody>
      </p:sp>
    </p:spTree>
    <p:extLst>
      <p:ext uri="{BB962C8B-B14F-4D97-AF65-F5344CB8AC3E}">
        <p14:creationId xmlns:p14="http://schemas.microsoft.com/office/powerpoint/2010/main" val="1374096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D5CDEBAB-DB09-4AB4-855A-8B4FA0ADDBAB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9286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ПОКАЗ ПРОДУКТА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0CE9B068-A045-4146-92C2-F32A84004830}"/>
              </a:ext>
            </a:extLst>
          </p:cNvPr>
          <p:cNvSpPr>
            <a:spLocks noGrp="1"/>
          </p:cNvSpPr>
          <p:nvPr/>
        </p:nvSpPr>
        <p:spPr>
          <a:xfrm>
            <a:off x="10991850" y="352425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F8B77"/>
                </a:solidFill>
                <a:latin typeface="Segoe UI"/>
                <a:ea typeface="Segoe UI"/>
                <a:cs typeface="Segoe UI"/>
              </a:rPr>
              <a:t>6 / 10</a:t>
            </a:r>
          </a:p>
        </p:txBody>
      </p:sp>
      <p:sp>
        <p:nvSpPr>
          <p:cNvPr id="3" name="headline">
            <a:extLst>
              <a:ext uri="{FF2B5EF4-FFF2-40B4-BE49-F238E27FC236}">
                <a16:creationId xmlns:a16="http://schemas.microsoft.com/office/drawing/2014/main" id="{36F1F81C-DB70-4C29-9B61-76CD371AA3B9}"/>
              </a:ext>
            </a:extLst>
          </p:cNvPr>
          <p:cNvSpPr>
            <a:spLocks noGrp="1"/>
          </p:cNvSpPr>
          <p:nvPr/>
        </p:nvSpPr>
        <p:spPr>
          <a:xfrm>
            <a:off x="609600" y="866775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33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33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33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33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33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33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33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33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33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3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3375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Подтвердили отправку резюме</a:t>
            </a:r>
          </a:p>
        </p:txBody>
      </p:sp>
      <p:sp>
        <p:nvSpPr>
          <p:cNvPr id="4" name="screenshot-caption">
            <a:extLst>
              <a:ext uri="{FF2B5EF4-FFF2-40B4-BE49-F238E27FC236}">
                <a16:creationId xmlns:a16="http://schemas.microsoft.com/office/drawing/2014/main" id="{0925F11A-1A06-4E59-A4C3-B30A47214359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3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Настоящий интерфейс после восстановления памяти. Данные синтетические.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4973E8-1311-42E1-986B-2F52DC6B42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000" b="19000"/>
          <a:stretch/>
        </p:blipFill>
        <p:spPr>
          <a:xfrm>
            <a:off x="609600" y="1952625"/>
            <a:ext cx="10972800" cy="3886200"/>
          </a:xfrm>
          <a:prstGeom prst="rect">
            <a:avLst/>
          </a:prstGeom>
        </p:spPr>
      </p:pic>
      <p:sp>
        <p:nvSpPr>
          <p:cNvPr id="6" name="quote">
            <a:extLst>
              <a:ext uri="{FF2B5EF4-FFF2-40B4-BE49-F238E27FC236}">
                <a16:creationId xmlns:a16="http://schemas.microsoft.com/office/drawing/2014/main" id="{162BBBCB-678A-49FB-8307-98584766ED31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8858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«Сегодня я отправил резюме на стажировку»</a:t>
            </a:r>
          </a:p>
        </p:txBody>
      </p:sp>
      <p:sp>
        <p:nvSpPr>
          <p:cNvPr id="7" name="count">
            <a:extLst>
              <a:ext uri="{FF2B5EF4-FFF2-40B4-BE49-F238E27FC236}">
                <a16:creationId xmlns:a16="http://schemas.microsoft.com/office/drawing/2014/main" id="{413EE4C9-8562-4B43-85DE-26191C6496EA}"/>
              </a:ext>
            </a:extLst>
          </p:cNvPr>
          <p:cNvSpPr>
            <a:spLocks noGrp="1"/>
          </p:cNvSpPr>
          <p:nvPr/>
        </p:nvSpPr>
        <p:spPr>
          <a:xfrm>
            <a:off x="10001250" y="5838825"/>
            <a:ext cx="1619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5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defPPr>
            <a:lvl1pPr>
              <a:defRPr sz="35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1pPr>
            <a:lvl2pPr>
              <a:defRPr sz="35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2pPr>
            <a:lvl3pPr>
              <a:defRPr sz="35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3pPr>
            <a:lvl4pPr>
              <a:defRPr sz="35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4pPr>
            <a:lvl5pPr>
              <a:defRPr sz="35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5pPr>
            <a:lvl6pPr>
              <a:defRPr sz="35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6pPr>
            <a:lvl7pPr>
              <a:defRPr sz="35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7pPr>
            <a:lvl8pPr>
              <a:defRPr sz="35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8pPr>
            <a:lvl9pPr>
              <a:defRPr sz="35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5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pPr>
            <a:r>
              <a:rPr sz="3525" b="1">
                <a:solidFill>
                  <a:srgbClr val="B7CBA4"/>
                </a:solidFill>
                <a:latin typeface="Segoe UI"/>
                <a:ea typeface="Segoe UI"/>
                <a:cs typeface="Segoe UI"/>
              </a:rPr>
              <a:t>1 / 1</a:t>
            </a:r>
          </a:p>
        </p:txBody>
      </p:sp>
      <p:sp>
        <p:nvSpPr>
          <p:cNvPr id="8" name="tested">
            <a:extLst>
              <a:ext uri="{FF2B5EF4-FFF2-40B4-BE49-F238E27FC236}">
                <a16:creationId xmlns:a16="http://schemas.microsoft.com/office/drawing/2014/main" id="{1E19382E-A17C-405F-832F-4520D5441605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668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defPPr>
            <a:lvl1pPr>
              <a:defRPr sz="15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1pPr>
            <a:lvl2pPr>
              <a:defRPr sz="15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2pPr>
            <a:lvl3pPr>
              <a:defRPr sz="15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3pPr>
            <a:lvl4pPr>
              <a:defRPr sz="15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4pPr>
            <a:lvl5pPr>
              <a:defRPr sz="15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5pPr>
            <a:lvl6pPr>
              <a:defRPr sz="15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6pPr>
            <a:lvl7pPr>
              <a:defRPr sz="15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7pPr>
            <a:lvl8pPr>
              <a:defRPr sz="15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8pPr>
            <a:lvl9pPr>
              <a:defRPr sz="15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5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Проверены текст, аудио, дубли, мобильный экран и восстановление.</a:t>
            </a:r>
          </a:p>
        </p:txBody>
      </p:sp>
    </p:spTree>
    <p:extLst>
      <p:ext uri="{BB962C8B-B14F-4D97-AF65-F5344CB8AC3E}">
        <p14:creationId xmlns:p14="http://schemas.microsoft.com/office/powerpoint/2010/main" val="961253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ection">
            <a:extLst>
              <a:ext uri="{FF2B5EF4-FFF2-40B4-BE49-F238E27FC236}">
                <a16:creationId xmlns:a16="http://schemas.microsoft.com/office/drawing/2014/main" id="{4D197B4D-904A-4C06-ACF3-5E697287B18C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9286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КОМАНДА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AB6D4476-EEC2-43F6-8020-CF94A78C3760}"/>
              </a:ext>
            </a:extLst>
          </p:cNvPr>
          <p:cNvSpPr>
            <a:spLocks noGrp="1"/>
          </p:cNvSpPr>
          <p:nvPr/>
        </p:nvSpPr>
        <p:spPr>
          <a:xfrm>
            <a:off x="10991850" y="352425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F8B77"/>
                </a:solidFill>
                <a:latin typeface="Segoe UI"/>
                <a:ea typeface="Segoe UI"/>
                <a:cs typeface="Segoe UI"/>
              </a:rPr>
              <a:t>7 / 10</a:t>
            </a:r>
          </a:p>
        </p:txBody>
      </p:sp>
      <p:sp>
        <p:nvSpPr>
          <p:cNvPr id="3" name="headline">
            <a:extLst>
              <a:ext uri="{FF2B5EF4-FFF2-40B4-BE49-F238E27FC236}">
                <a16:creationId xmlns:a16="http://schemas.microsoft.com/office/drawing/2014/main" id="{324734D9-9885-40B1-AFCA-768AAB935742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5375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8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38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38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38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38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38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38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38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38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38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82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3825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Как мы разделили работу</a:t>
            </a:r>
          </a:p>
        </p:txBody>
      </p:sp>
      <p:sp>
        <p:nvSpPr>
          <p:cNvPr id="4" name="role-A">
            <a:extLst>
              <a:ext uri="{FF2B5EF4-FFF2-40B4-BE49-F238E27FC236}">
                <a16:creationId xmlns:a16="http://schemas.microsoft.com/office/drawing/2014/main" id="{2BE485D7-1A11-40E2-949A-1FA92F2BC9FC}"/>
              </a:ext>
            </a:extLst>
          </p:cNvPr>
          <p:cNvSpPr>
            <a:spLocks noGrp="1"/>
          </p:cNvSpPr>
          <p:nvPr/>
        </p:nvSpPr>
        <p:spPr>
          <a:xfrm>
            <a:off x="609600" y="2543175"/>
            <a:ext cx="30956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9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defPPr>
            <a:lvl1pPr>
              <a:defRPr sz="39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1pPr>
            <a:lvl2pPr>
              <a:defRPr sz="39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2pPr>
            <a:lvl3pPr>
              <a:defRPr sz="39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3pPr>
            <a:lvl4pPr>
              <a:defRPr sz="39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4pPr>
            <a:lvl5pPr>
              <a:defRPr sz="39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5pPr>
            <a:lvl6pPr>
              <a:defRPr sz="39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6pPr>
            <a:lvl7pPr>
              <a:defRPr sz="39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7pPr>
            <a:lvl8pPr>
              <a:defRPr sz="39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8pPr>
            <a:lvl9pPr>
              <a:defRPr sz="39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97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B7CBA4"/>
                </a:solidFill>
                <a:latin typeface="Segoe UI"/>
                <a:ea typeface="Segoe UI"/>
                <a:cs typeface="Segoe UI"/>
              </a:rPr>
              <a:t>A</a:t>
            </a:r>
          </a:p>
        </p:txBody>
      </p:sp>
      <p:sp>
        <p:nvSpPr>
          <p:cNvPr id="5" name="title-A">
            <a:extLst>
              <a:ext uri="{FF2B5EF4-FFF2-40B4-BE49-F238E27FC236}">
                <a16:creationId xmlns:a16="http://schemas.microsoft.com/office/drawing/2014/main" id="{6234131C-3CCA-40AD-ACEC-663967E8D910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3143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Цели и выпуск</a:t>
            </a:r>
          </a:p>
        </p:txBody>
      </p:sp>
      <p:sp>
        <p:nvSpPr>
          <p:cNvPr id="6" name="body-A">
            <a:extLst>
              <a:ext uri="{FF2B5EF4-FFF2-40B4-BE49-F238E27FC236}">
                <a16:creationId xmlns:a16="http://schemas.microsoft.com/office/drawing/2014/main" id="{39593730-5864-4010-8C6D-F35EAB36C437}"/>
              </a:ext>
            </a:extLst>
          </p:cNvPr>
          <p:cNvSpPr>
            <a:spLocks noGrp="1"/>
          </p:cNvSpPr>
          <p:nvPr/>
        </p:nvSpPr>
        <p:spPr>
          <a:xfrm>
            <a:off x="609600" y="4048125"/>
            <a:ext cx="3190875" cy="1295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Цели и критерии</a:t>
            </a:r>
          </a:p>
          <a:p>
            <a: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Подсчёт прогресса</a:t>
            </a:r>
          </a:p>
          <a:p>
            <a: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Сборка и восстановление</a:t>
            </a:r>
          </a:p>
        </p:txBody>
      </p:sp>
      <p:sp>
        <p:nvSpPr>
          <p:cNvPr id="7" name="role-B">
            <a:extLst>
              <a:ext uri="{FF2B5EF4-FFF2-40B4-BE49-F238E27FC236}">
                <a16:creationId xmlns:a16="http://schemas.microsoft.com/office/drawing/2014/main" id="{01460E01-9ABE-4E31-AD97-AAB887B30827}"/>
              </a:ext>
            </a:extLst>
          </p:cNvPr>
          <p:cNvSpPr>
            <a:spLocks noGrp="1"/>
          </p:cNvSpPr>
          <p:nvPr/>
        </p:nvSpPr>
        <p:spPr>
          <a:xfrm>
            <a:off x="4524375" y="2543175"/>
            <a:ext cx="30956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9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39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39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39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39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39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39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39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39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39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97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B</a:t>
            </a:r>
          </a:p>
        </p:txBody>
      </p:sp>
      <p:sp>
        <p:nvSpPr>
          <p:cNvPr id="8" name="title-B">
            <a:extLst>
              <a:ext uri="{FF2B5EF4-FFF2-40B4-BE49-F238E27FC236}">
                <a16:creationId xmlns:a16="http://schemas.microsoft.com/office/drawing/2014/main" id="{B1BCB298-D84F-4081-B77C-ECF95A73C3BB}"/>
              </a:ext>
            </a:extLst>
          </p:cNvPr>
          <p:cNvSpPr>
            <a:spLocks noGrp="1"/>
          </p:cNvSpPr>
          <p:nvPr/>
        </p:nvSpPr>
        <p:spPr>
          <a:xfrm>
            <a:off x="4524375" y="3371850"/>
            <a:ext cx="3143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Контекст и AI</a:t>
            </a:r>
          </a:p>
        </p:txBody>
      </p:sp>
      <p:sp>
        <p:nvSpPr>
          <p:cNvPr id="9" name="body-B">
            <a:extLst>
              <a:ext uri="{FF2B5EF4-FFF2-40B4-BE49-F238E27FC236}">
                <a16:creationId xmlns:a16="http://schemas.microsoft.com/office/drawing/2014/main" id="{D8FC79C2-6462-40CE-AA03-205DDE52AEAD}"/>
              </a:ext>
            </a:extLst>
          </p:cNvPr>
          <p:cNvSpPr>
            <a:spLocks noGrp="1"/>
          </p:cNvSpPr>
          <p:nvPr/>
        </p:nvSpPr>
        <p:spPr>
          <a:xfrm>
            <a:off x="4524375" y="4048125"/>
            <a:ext cx="3190875" cy="1295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Импорт текста</a:t>
            </a:r>
          </a:p>
          <a:p>
            <a: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События и точные цитаты</a:t>
            </a:r>
          </a:p>
          <a:p>
            <a: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Аудио и распознавание</a:t>
            </a:r>
          </a:p>
        </p:txBody>
      </p:sp>
      <p:sp>
        <p:nvSpPr>
          <p:cNvPr id="10" name="role-C">
            <a:extLst>
              <a:ext uri="{FF2B5EF4-FFF2-40B4-BE49-F238E27FC236}">
                <a16:creationId xmlns:a16="http://schemas.microsoft.com/office/drawing/2014/main" id="{6EB67EA4-7074-49C3-987D-85F221716BDD}"/>
              </a:ext>
            </a:extLst>
          </p:cNvPr>
          <p:cNvSpPr>
            <a:spLocks noGrp="1"/>
          </p:cNvSpPr>
          <p:nvPr/>
        </p:nvSpPr>
        <p:spPr>
          <a:xfrm>
            <a:off x="8439150" y="2543175"/>
            <a:ext cx="30956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9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defPPr>
            <a:lvl1pPr>
              <a:defRPr sz="39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1pPr>
            <a:lvl2pPr>
              <a:defRPr sz="39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2pPr>
            <a:lvl3pPr>
              <a:defRPr sz="39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3pPr>
            <a:lvl4pPr>
              <a:defRPr sz="39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4pPr>
            <a:lvl5pPr>
              <a:defRPr sz="39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5pPr>
            <a:lvl6pPr>
              <a:defRPr sz="39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6pPr>
            <a:lvl7pPr>
              <a:defRPr sz="39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7pPr>
            <a:lvl8pPr>
              <a:defRPr sz="39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8pPr>
            <a:lvl9pPr>
              <a:defRPr sz="39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975" b="1">
                <a:solidFill>
                  <a:srgbClr val="C7B5D9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C7B5D9"/>
                </a:solidFill>
                <a:latin typeface="Segoe UI"/>
                <a:ea typeface="Segoe UI"/>
                <a:cs typeface="Segoe UI"/>
              </a:rPr>
              <a:t>C</a:t>
            </a:r>
          </a:p>
        </p:txBody>
      </p:sp>
      <p:sp>
        <p:nvSpPr>
          <p:cNvPr id="11" name="title-C">
            <a:extLst>
              <a:ext uri="{FF2B5EF4-FFF2-40B4-BE49-F238E27FC236}">
                <a16:creationId xmlns:a16="http://schemas.microsoft.com/office/drawing/2014/main" id="{233A7FF5-7100-4417-B5ED-DFF983DDFA9B}"/>
              </a:ext>
            </a:extLst>
          </p:cNvPr>
          <p:cNvSpPr>
            <a:spLocks noGrp="1"/>
          </p:cNvSpPr>
          <p:nvPr/>
        </p:nvSpPr>
        <p:spPr>
          <a:xfrm>
            <a:off x="8439150" y="3371850"/>
            <a:ext cx="3143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2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UI и интеграция</a:t>
            </a:r>
          </a:p>
        </p:txBody>
      </p:sp>
      <p:sp>
        <p:nvSpPr>
          <p:cNvPr id="12" name="body-C">
            <a:extLst>
              <a:ext uri="{FF2B5EF4-FFF2-40B4-BE49-F238E27FC236}">
                <a16:creationId xmlns:a16="http://schemas.microsoft.com/office/drawing/2014/main" id="{B6738596-4BC0-420D-95D9-44A918F8620D}"/>
              </a:ext>
            </a:extLst>
          </p:cNvPr>
          <p:cNvSpPr>
            <a:spLocks noGrp="1"/>
          </p:cNvSpPr>
          <p:nvPr/>
        </p:nvSpPr>
        <p:spPr>
          <a:xfrm>
            <a:off x="8439150" y="4048125"/>
            <a:ext cx="3190875" cy="1295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Экран цели</a:t>
            </a:r>
          </a:p>
          <a:p>
            <a: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Общий контракт API</a:t>
            </a:r>
          </a:p>
          <a:p>
            <a: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Объединение модулей</a:t>
            </a:r>
          </a:p>
        </p:txBody>
      </p:sp>
      <p:sp>
        <p:nvSpPr>
          <p:cNvPr id="13" name="handoff">
            <a:extLst>
              <a:ext uri="{FF2B5EF4-FFF2-40B4-BE49-F238E27FC236}">
                <a16:creationId xmlns:a16="http://schemas.microsoft.com/office/drawing/2014/main" id="{9BDA38F3-4F09-4742-A248-F0CD03DAFAD4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Основа — BrainDrive (MIT). Наш вклад — цели, контекст и прогресс.</a:t>
            </a:r>
          </a:p>
        </p:txBody>
      </p:sp>
    </p:spTree>
    <p:extLst>
      <p:ext uri="{BB962C8B-B14F-4D97-AF65-F5344CB8AC3E}">
        <p14:creationId xmlns:p14="http://schemas.microsoft.com/office/powerpoint/2010/main" val="585427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ABA93CD5-F175-426B-9A1A-0A25B025B71D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8639175" y="3881438"/>
            <a:ext cx="628650" cy="0"/>
          </a:xfrm>
          <a:prstGeom prst="straightConnector1">
            <a:avLst/>
          </a:prstGeom>
          <a:ln w="19050">
            <a:solidFill>
              <a:srgbClr val="6B5E51"/>
            </a:solidFill>
            <a:tailEnd type="triangle" w="sm" len="sm"/>
          </a:ln>
        </p:spPr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D91D045A-37C9-476E-97E8-605A180BFFA7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5753100" y="3881438"/>
            <a:ext cx="628650" cy="0"/>
          </a:xfrm>
          <a:prstGeom prst="straightConnector1">
            <a:avLst/>
          </a:prstGeom>
          <a:ln w="19050">
            <a:solidFill>
              <a:srgbClr val="6B5E51"/>
            </a:solidFill>
            <a:tailEnd type="triangle" w="sm" len="sm"/>
          </a:ln>
        </p:spPr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74D0C71D-D4EB-4D38-9878-6DEAF3A253BD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2867025" y="3881438"/>
            <a:ext cx="628650" cy="0"/>
          </a:xfrm>
          <a:prstGeom prst="straightConnector1">
            <a:avLst/>
          </a:prstGeom>
          <a:ln w="19050">
            <a:solidFill>
              <a:srgbClr val="6B5E51"/>
            </a:solidFill>
            <a:tailEnd type="triangle" w="sm" len="sm"/>
          </a:ln>
        </p:spPr>
      </p:cxnSp>
      <p:sp>
        <p:nvSpPr>
          <p:cNvPr id="17" name="section">
            <a:extLst>
              <a:ext uri="{FF2B5EF4-FFF2-40B4-BE49-F238E27FC236}">
                <a16:creationId xmlns:a16="http://schemas.microsoft.com/office/drawing/2014/main" id="{93D52F19-F754-4EA1-B888-7AE973D828C9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9286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AI В РАЗРАБОТКЕ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8124F7EE-068C-4ED6-8ED7-2683324019A7}"/>
              </a:ext>
            </a:extLst>
          </p:cNvPr>
          <p:cNvSpPr>
            <a:spLocks noGrp="1"/>
          </p:cNvSpPr>
          <p:nvPr/>
        </p:nvSpPr>
        <p:spPr>
          <a:xfrm>
            <a:off x="10991850" y="352425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F8B77"/>
                </a:solidFill>
                <a:latin typeface="Segoe UI"/>
                <a:ea typeface="Segoe UI"/>
                <a:cs typeface="Segoe UI"/>
              </a:rPr>
              <a:t>8 / 10</a:t>
            </a:r>
          </a:p>
        </p:txBody>
      </p:sp>
      <p:sp>
        <p:nvSpPr>
          <p:cNvPr id="3" name="headline">
            <a:extLst>
              <a:ext uri="{FF2B5EF4-FFF2-40B4-BE49-F238E27FC236}">
                <a16:creationId xmlns:a16="http://schemas.microsoft.com/office/drawing/2014/main" id="{7F8C15C2-E7D5-4661-B2AB-E99731DB4A79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53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7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Как мы разрабатывали с Codex</a:t>
            </a:r>
          </a:p>
        </p:txBody>
      </p:sp>
      <p:sp>
        <p:nvSpPr>
          <p:cNvPr id="4" name="dev-number-0">
            <a:extLst>
              <a:ext uri="{FF2B5EF4-FFF2-40B4-BE49-F238E27FC236}">
                <a16:creationId xmlns:a16="http://schemas.microsoft.com/office/drawing/2014/main" id="{C8B05E66-E410-4C54-95EA-C2E196929CB1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22574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" name="dev-stage-0">
            <a:extLst>
              <a:ext uri="{FF2B5EF4-FFF2-40B4-BE49-F238E27FC236}">
                <a16:creationId xmlns:a16="http://schemas.microsoft.com/office/drawing/2014/main" id="{4F43C5E6-DB12-4823-B890-626670E3964C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2257425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Задача</a:t>
            </a:r>
          </a:p>
          <a:p>
            <a: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и контракт</a:t>
            </a:r>
          </a:p>
        </p:txBody>
      </p:sp>
      <p:sp>
        <p:nvSpPr>
          <p:cNvPr id="6" name="dev-number-1">
            <a:extLst>
              <a:ext uri="{FF2B5EF4-FFF2-40B4-BE49-F238E27FC236}">
                <a16:creationId xmlns:a16="http://schemas.microsoft.com/office/drawing/2014/main" id="{AC1EA95A-2F1B-4CCC-A82F-C6F21F7A3B08}"/>
              </a:ext>
            </a:extLst>
          </p:cNvPr>
          <p:cNvSpPr>
            <a:spLocks noGrp="1"/>
          </p:cNvSpPr>
          <p:nvPr/>
        </p:nvSpPr>
        <p:spPr>
          <a:xfrm>
            <a:off x="3495675" y="2714625"/>
            <a:ext cx="22574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dev-stage-1">
            <a:extLst>
              <a:ext uri="{FF2B5EF4-FFF2-40B4-BE49-F238E27FC236}">
                <a16:creationId xmlns:a16="http://schemas.microsoft.com/office/drawing/2014/main" id="{49E7789B-2853-41B5-86F7-9C1AE909BFAD}"/>
              </a:ext>
            </a:extLst>
          </p:cNvPr>
          <p:cNvSpPr>
            <a:spLocks noGrp="1"/>
          </p:cNvSpPr>
          <p:nvPr/>
        </p:nvSpPr>
        <p:spPr>
          <a:xfrm>
            <a:off x="3495675" y="3333750"/>
            <a:ext cx="2257425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Код</a:t>
            </a:r>
          </a:p>
          <a:p>
            <a: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и тесты</a:t>
            </a:r>
          </a:p>
        </p:txBody>
      </p:sp>
      <p:sp>
        <p:nvSpPr>
          <p:cNvPr id="8" name="dev-number-2">
            <a:extLst>
              <a:ext uri="{FF2B5EF4-FFF2-40B4-BE49-F238E27FC236}">
                <a16:creationId xmlns:a16="http://schemas.microsoft.com/office/drawing/2014/main" id="{A3FE7893-79AA-4CC9-BD0A-BF1C8EDF0AF3}"/>
              </a:ext>
            </a:extLst>
          </p:cNvPr>
          <p:cNvSpPr>
            <a:spLocks noGrp="1"/>
          </p:cNvSpPr>
          <p:nvPr/>
        </p:nvSpPr>
        <p:spPr>
          <a:xfrm>
            <a:off x="6381750" y="2714625"/>
            <a:ext cx="22574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9" name="dev-stage-2">
            <a:extLst>
              <a:ext uri="{FF2B5EF4-FFF2-40B4-BE49-F238E27FC236}">
                <a16:creationId xmlns:a16="http://schemas.microsoft.com/office/drawing/2014/main" id="{76E8F8E7-D252-41EE-9ACA-E96A0859710D}"/>
              </a:ext>
            </a:extLst>
          </p:cNvPr>
          <p:cNvSpPr>
            <a:spLocks noGrp="1"/>
          </p:cNvSpPr>
          <p:nvPr/>
        </p:nvSpPr>
        <p:spPr>
          <a:xfrm>
            <a:off x="6381750" y="3333750"/>
            <a:ext cx="2257425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Прогон</a:t>
            </a:r>
          </a:p>
          <a:p>
            <a: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в браузере</a:t>
            </a:r>
          </a:p>
        </p:txBody>
      </p:sp>
      <p:sp>
        <p:nvSpPr>
          <p:cNvPr id="10" name="dev-number-3">
            <a:extLst>
              <a:ext uri="{FF2B5EF4-FFF2-40B4-BE49-F238E27FC236}">
                <a16:creationId xmlns:a16="http://schemas.microsoft.com/office/drawing/2014/main" id="{68273844-EE61-44AC-923E-10E4EB50E625}"/>
              </a:ext>
            </a:extLst>
          </p:cNvPr>
          <p:cNvSpPr>
            <a:spLocks noGrp="1"/>
          </p:cNvSpPr>
          <p:nvPr/>
        </p:nvSpPr>
        <p:spPr>
          <a:xfrm>
            <a:off x="9267825" y="2714625"/>
            <a:ext cx="22574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1" name="dev-stage-3">
            <a:extLst>
              <a:ext uri="{FF2B5EF4-FFF2-40B4-BE49-F238E27FC236}">
                <a16:creationId xmlns:a16="http://schemas.microsoft.com/office/drawing/2014/main" id="{97D684C2-845F-432A-A3A4-6CA75BD52806}"/>
              </a:ext>
            </a:extLst>
          </p:cNvPr>
          <p:cNvSpPr>
            <a:spLocks noGrp="1"/>
          </p:cNvSpPr>
          <p:nvPr/>
        </p:nvSpPr>
        <p:spPr>
          <a:xfrm>
            <a:off x="9267825" y="3333750"/>
            <a:ext cx="2257425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Разбор</a:t>
            </a:r>
          </a:p>
          <a:p>
            <a:pPr>
              <a:defRPr sz="24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ошибок</a:t>
            </a:r>
          </a:p>
        </p:txBody>
      </p:sp>
      <p:sp>
        <p:nvSpPr>
          <p:cNvPr id="15" name="human">
            <a:extLst>
              <a:ext uri="{FF2B5EF4-FFF2-40B4-BE49-F238E27FC236}">
                <a16:creationId xmlns:a16="http://schemas.microsoft.com/office/drawing/2014/main" id="{4CF143F1-A9FB-48AE-B787-EAADE40A3575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75" b="0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7CBA4"/>
                </a:solidFill>
                <a:latin typeface="Segoe UI"/>
                <a:ea typeface="Segoe UI"/>
                <a:cs typeface="Segoe UI"/>
              </a:rPr>
              <a:t>Команда ставила задачи и принимала результат.</a:t>
            </a:r>
          </a:p>
        </p:txBody>
      </p:sp>
      <p:sp>
        <p:nvSpPr>
          <p:cNvPr id="16" name="ai">
            <a:extLst>
              <a:ext uri="{FF2B5EF4-FFF2-40B4-BE49-F238E27FC236}">
                <a16:creationId xmlns:a16="http://schemas.microsoft.com/office/drawing/2014/main" id="{40FC2CCA-6CB1-40D0-A72C-664587C4CD59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0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Codex писал модули и тесты. Аудио проверяли в браузере,</a:t>
            </a:r>
          </a:p>
          <a:p>
            <a:pPr>
              <a:defRPr sz="202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ошибки сохраняли в отчётах и исправляли до интеграции.</a:t>
            </a:r>
          </a:p>
        </p:txBody>
      </p:sp>
    </p:spTree>
    <p:extLst>
      <p:ext uri="{BB962C8B-B14F-4D97-AF65-F5344CB8AC3E}">
        <p14:creationId xmlns:p14="http://schemas.microsoft.com/office/powerpoint/2010/main" val="52146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C259EB27-E3CF-44D6-99F7-F5E140540376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9286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OPEN SOURCE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F94593A9-6B89-484B-BD58-0DD99DC25B07}"/>
              </a:ext>
            </a:extLst>
          </p:cNvPr>
          <p:cNvSpPr>
            <a:spLocks noGrp="1"/>
          </p:cNvSpPr>
          <p:nvPr/>
        </p:nvSpPr>
        <p:spPr>
          <a:xfrm>
            <a:off x="10991850" y="352425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F8B77"/>
                </a:solidFill>
                <a:latin typeface="Segoe UI"/>
                <a:ea typeface="Segoe UI"/>
                <a:cs typeface="Segoe UI"/>
              </a:rPr>
              <a:t>9 / 10</a:t>
            </a:r>
          </a:p>
        </p:txBody>
      </p:sp>
      <p:sp>
        <p:nvSpPr>
          <p:cNvPr id="3" name="headline">
            <a:extLst>
              <a:ext uri="{FF2B5EF4-FFF2-40B4-BE49-F238E27FC236}">
                <a16:creationId xmlns:a16="http://schemas.microsoft.com/office/drawing/2014/main" id="{4FE3B43A-5274-44BC-AB9C-31FD28E9D959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5375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9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39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39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39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39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39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39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39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39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39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975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3975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Куда уходят мои записи?</a:t>
            </a:r>
          </a:p>
        </p:txBody>
      </p:sp>
      <p:sp>
        <p:nvSpPr>
          <p:cNvPr id="4" name="open">
            <a:extLst>
              <a:ext uri="{FF2B5EF4-FFF2-40B4-BE49-F238E27FC236}">
                <a16:creationId xmlns:a16="http://schemas.microsoft.com/office/drawing/2014/main" id="{EEA48464-5444-4A49-8C7E-9371016D28CC}"/>
              </a:ext>
            </a:extLst>
          </p:cNvPr>
          <p:cNvSpPr>
            <a:spLocks noGrp="1"/>
          </p:cNvSpPr>
          <p:nvPr/>
        </p:nvSpPr>
        <p:spPr>
          <a:xfrm>
            <a:off x="609600" y="2867025"/>
            <a:ext cx="771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625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B7CBA4"/>
                </a:solidFill>
                <a:latin typeface="Segoe UI"/>
                <a:ea typeface="Segoe UI"/>
                <a:cs typeface="Segoe UI"/>
              </a:rPr>
              <a:t>Код открыт. Можно развернуть у себя.</a:t>
            </a:r>
          </a:p>
        </p:txBody>
      </p:sp>
      <p:sp>
        <p:nvSpPr>
          <p:cNvPr id="5" name="control">
            <a:extLst>
              <a:ext uri="{FF2B5EF4-FFF2-40B4-BE49-F238E27FC236}">
                <a16:creationId xmlns:a16="http://schemas.microsoft.com/office/drawing/2014/main" id="{D227AB15-8224-48D8-B591-2FCCD11CA9C6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7905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1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При своей установке память — на вашем сервере.</a:t>
            </a:r>
          </a:p>
          <a:p>
            <a:pPr>
              <a:defRPr sz="2100" b="0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Вы сами выбираете источник для импорта.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798491-59DE-4F5D-8EC7-483ADE78B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29759" y="2800350"/>
            <a:ext cx="2619257" cy="2457450"/>
          </a:xfrm>
          <a:prstGeom prst="rect">
            <a:avLst/>
          </a:prstGeom>
        </p:spPr>
      </p:pic>
      <p:sp>
        <p:nvSpPr>
          <p:cNvPr id="7" name="boundary">
            <a:extLst>
              <a:ext uri="{FF2B5EF4-FFF2-40B4-BE49-F238E27FC236}">
                <a16:creationId xmlns:a16="http://schemas.microsoft.com/office/drawing/2014/main" id="{12025F8B-E39E-490F-86C6-A8137104810D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953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025" b="0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Сейчас выбранный текст или расшифровку обрабатывает внешняя LLM.</a:t>
            </a:r>
          </a:p>
        </p:txBody>
      </p:sp>
      <p:sp>
        <p:nvSpPr>
          <p:cNvPr id="8" name="local-plan">
            <a:extLst>
              <a:ext uri="{FF2B5EF4-FFF2-40B4-BE49-F238E27FC236}">
                <a16:creationId xmlns:a16="http://schemas.microsoft.com/office/drawing/2014/main" id="{73BAF83D-7569-4CC1-86CB-A02F23CD678E}"/>
              </a:ext>
            </a:extLst>
          </p:cNvPr>
          <p:cNvSpPr>
            <a:spLocks noGrp="1"/>
          </p:cNvSpPr>
          <p:nvPr/>
        </p:nvSpPr>
        <p:spPr>
          <a:xfrm>
            <a:off x="609600" y="6181725"/>
            <a:ext cx="10858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75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Полностью локальная LLM — план развития.</a:t>
            </a:r>
          </a:p>
        </p:txBody>
      </p:sp>
    </p:spTree>
    <p:extLst>
      <p:ext uri="{BB962C8B-B14F-4D97-AF65-F5344CB8AC3E}">
        <p14:creationId xmlns:p14="http://schemas.microsoft.com/office/powerpoint/2010/main" val="156098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ection">
            <a:extLst>
              <a:ext uri="{FF2B5EF4-FFF2-40B4-BE49-F238E27FC236}">
                <a16:creationId xmlns:a16="http://schemas.microsoft.com/office/drawing/2014/main" id="{10BB9636-C420-4846-BC26-2BA2AC680031}"/>
              </a:ext>
            </a:extLst>
          </p:cNvPr>
          <p:cNvSpPr>
            <a:spLocks noGrp="1"/>
          </p:cNvSpPr>
          <p:nvPr/>
        </p:nvSpPr>
        <p:spPr>
          <a:xfrm>
            <a:off x="609600" y="352425"/>
            <a:ext cx="92868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425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МОДЕЛЬ МОНЕТИЗАЦИИ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31AEB2A8-A5A4-4644-AD8C-119C69AD215E}"/>
              </a:ext>
            </a:extLst>
          </p:cNvPr>
          <p:cNvSpPr>
            <a:spLocks noGrp="1"/>
          </p:cNvSpPr>
          <p:nvPr/>
        </p:nvSpPr>
        <p:spPr>
          <a:xfrm>
            <a:off x="10991850" y="352425"/>
            <a:ext cx="66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defPPr>
            <a:lvl1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1pPr>
            <a:lvl2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2pPr>
            <a:lvl3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3pPr>
            <a:lvl4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4pPr>
            <a:lvl5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5pPr>
            <a:lvl6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6pPr>
            <a:lvl7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7pPr>
            <a:lvl8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8pPr>
            <a:lvl9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350" b="0">
                <a:solidFill>
                  <a:srgbClr val="9F8B7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F8B77"/>
                </a:solidFill>
                <a:latin typeface="Segoe UI"/>
                <a:ea typeface="Segoe UI"/>
                <a:cs typeface="Segoe UI"/>
              </a:rPr>
              <a:t>10 / 10</a:t>
            </a:r>
          </a:p>
        </p:txBody>
      </p:sp>
      <p:sp>
        <p:nvSpPr>
          <p:cNvPr id="3" name="headline">
            <a:extLst>
              <a:ext uri="{FF2B5EF4-FFF2-40B4-BE49-F238E27FC236}">
                <a16:creationId xmlns:a16="http://schemas.microsoft.com/office/drawing/2014/main" id="{48A46BD7-BE10-4FA3-9011-6C04239D3B72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5375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33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33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33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33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33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33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33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33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33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3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Своя модель или наша подписка</a:t>
            </a:r>
          </a:p>
        </p:txBody>
      </p:sp>
      <p:sp>
        <p:nvSpPr>
          <p:cNvPr id="4" name="own-label">
            <a:extLst>
              <a:ext uri="{FF2B5EF4-FFF2-40B4-BE49-F238E27FC236}">
                <a16:creationId xmlns:a16="http://schemas.microsoft.com/office/drawing/2014/main" id="{D1DF4060-0E5E-4A3A-87F9-9935A4B82DFA}"/>
              </a:ext>
            </a:extLst>
          </p:cNvPr>
          <p:cNvSpPr>
            <a:spLocks noGrp="1"/>
          </p:cNvSpPr>
          <p:nvPr/>
        </p:nvSpPr>
        <p:spPr>
          <a:xfrm>
            <a:off x="609600" y="2619375"/>
            <a:ext cx="5572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00" b="1">
                <a:solidFill>
                  <a:srgbClr val="B7CBA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B7CBA4"/>
                </a:solidFill>
                <a:latin typeface="Segoe UI"/>
                <a:ea typeface="Segoe UI"/>
                <a:cs typeface="Segoe UI"/>
              </a:rPr>
              <a:t>СВОЯ МОДЕЛЬ ИЛИ КЛЮЧ</a:t>
            </a:r>
          </a:p>
        </p:txBody>
      </p:sp>
      <p:sp>
        <p:nvSpPr>
          <p:cNvPr id="5" name="own-price">
            <a:extLst>
              <a:ext uri="{FF2B5EF4-FFF2-40B4-BE49-F238E27FC236}">
                <a16:creationId xmlns:a16="http://schemas.microsoft.com/office/drawing/2014/main" id="{F2EA7035-9B11-4570-B8D9-74D3F6D2094C}"/>
              </a:ext>
            </a:extLst>
          </p:cNvPr>
          <p:cNvSpPr>
            <a:spLocks noGrp="1"/>
          </p:cNvSpPr>
          <p:nvPr/>
        </p:nvSpPr>
        <p:spPr>
          <a:xfrm>
            <a:off x="609600" y="3324225"/>
            <a:ext cx="5619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31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31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31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31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31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31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31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31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31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15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Проект бесплатный</a:t>
            </a:r>
          </a:p>
        </p:txBody>
      </p:sp>
      <p:sp>
        <p:nvSpPr>
          <p:cNvPr id="6" name="own-description">
            <a:extLst>
              <a:ext uri="{FF2B5EF4-FFF2-40B4-BE49-F238E27FC236}">
                <a16:creationId xmlns:a16="http://schemas.microsoft.com/office/drawing/2014/main" id="{35C44FF2-5760-42F9-8DC1-7E25B8327B2B}"/>
              </a:ext>
            </a:extLst>
          </p:cNvPr>
          <p:cNvSpPr>
            <a:spLocks noGrp="1"/>
          </p:cNvSpPr>
          <p:nvPr/>
        </p:nvSpPr>
        <p:spPr>
          <a:xfrm>
            <a:off x="609600" y="4295775"/>
            <a:ext cx="56197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2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Пользователь оплачивает</a:t>
            </a:r>
          </a:p>
          <a:p>
            <a:pPr>
              <a:defRPr sz="225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своего провайдера напрямую.</a:t>
            </a:r>
          </a:p>
        </p:txBody>
      </p:sp>
      <p:sp>
        <p:nvSpPr>
          <p:cNvPr id="7" name="our-label">
            <a:extLst>
              <a:ext uri="{FF2B5EF4-FFF2-40B4-BE49-F238E27FC236}">
                <a16:creationId xmlns:a16="http://schemas.microsoft.com/office/drawing/2014/main" id="{98824D50-74EE-4869-9553-ACA261BD9EE1}"/>
              </a:ext>
            </a:extLst>
          </p:cNvPr>
          <p:cNvSpPr>
            <a:spLocks noGrp="1"/>
          </p:cNvSpPr>
          <p:nvPr/>
        </p:nvSpPr>
        <p:spPr>
          <a:xfrm>
            <a:off x="7143750" y="2619375"/>
            <a:ext cx="438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0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НАШИ МОДЕЛИ</a:t>
            </a:r>
          </a:p>
        </p:txBody>
      </p:sp>
      <p:sp>
        <p:nvSpPr>
          <p:cNvPr id="8" name="our-price">
            <a:extLst>
              <a:ext uri="{FF2B5EF4-FFF2-40B4-BE49-F238E27FC236}">
                <a16:creationId xmlns:a16="http://schemas.microsoft.com/office/drawing/2014/main" id="{B5F4A075-6663-41AB-A472-532BABD9D8AA}"/>
              </a:ext>
            </a:extLst>
          </p:cNvPr>
          <p:cNvSpPr>
            <a:spLocks noGrp="1"/>
          </p:cNvSpPr>
          <p:nvPr/>
        </p:nvSpPr>
        <p:spPr>
          <a:xfrm>
            <a:off x="7143750" y="33242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defPPr>
            <a:lvl1pPr>
              <a:defRPr sz="36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1pPr>
            <a:lvl2pPr>
              <a:defRPr sz="36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2pPr>
            <a:lvl3pPr>
              <a:defRPr sz="36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3pPr>
            <a:lvl4pPr>
              <a:defRPr sz="36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4pPr>
            <a:lvl5pPr>
              <a:defRPr sz="36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5pPr>
            <a:lvl6pPr>
              <a:defRPr sz="36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6pPr>
            <a:lvl7pPr>
              <a:defRPr sz="36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7pPr>
            <a:lvl8pPr>
              <a:defRPr sz="36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8pPr>
            <a:lvl9pPr>
              <a:defRPr sz="36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3600" b="1">
                <a:solidFill>
                  <a:srgbClr val="F3EBDF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F3EBDF"/>
                </a:solidFill>
                <a:latin typeface="Segoe UI"/>
                <a:ea typeface="Segoe UI"/>
                <a:cs typeface="Segoe UI"/>
              </a:rPr>
              <a:t>Подписка</a:t>
            </a:r>
          </a:p>
        </p:txBody>
      </p:sp>
      <p:sp>
        <p:nvSpPr>
          <p:cNvPr id="9" name="our-description">
            <a:extLst>
              <a:ext uri="{FF2B5EF4-FFF2-40B4-BE49-F238E27FC236}">
                <a16:creationId xmlns:a16="http://schemas.microsoft.com/office/drawing/2014/main" id="{9EDC9652-2B88-41CC-BF94-E4D87CB9BE49}"/>
              </a:ext>
            </a:extLst>
          </p:cNvPr>
          <p:cNvSpPr>
            <a:spLocks noGrp="1"/>
          </p:cNvSpPr>
          <p:nvPr/>
        </p:nvSpPr>
        <p:spPr>
          <a:xfrm>
            <a:off x="7143750" y="4295775"/>
            <a:ext cx="43815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Оплата только при использовании</a:t>
            </a:r>
          </a:p>
          <a:p>
            <a:pPr>
              <a:defRPr sz="1800" b="0">
                <a:solidFill>
                  <a:srgbClr val="C8B9A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C8B9A7"/>
                </a:solidFill>
                <a:latin typeface="Segoe UI"/>
                <a:ea typeface="Segoe UI"/>
                <a:cs typeface="Segoe UI"/>
              </a:rPr>
              <a:t>моделей, которые предоставляем мы.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A6CE985-9C65-4952-8EEC-890A3A043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82250" y="5536406"/>
            <a:ext cx="1314450" cy="985838"/>
          </a:xfrm>
          <a:prstGeom prst="rect">
            <a:avLst/>
          </a:prstGeom>
        </p:spPr>
      </p:pic>
      <p:sp>
        <p:nvSpPr>
          <p:cNvPr id="11" name="ending">
            <a:extLst>
              <a:ext uri="{FF2B5EF4-FFF2-40B4-BE49-F238E27FC236}">
                <a16:creationId xmlns:a16="http://schemas.microsoft.com/office/drawing/2014/main" id="{F737AB45-10CE-4466-91D2-A3B52DAA8EB2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9620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550" b="1">
                <a:solidFill>
                  <a:srgbClr val="EFB187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FB187"/>
                </a:solidFill>
                <a:latin typeface="Segoe UI"/>
                <a:ea typeface="Segoe UI"/>
                <a:cs typeface="Segoe UI"/>
              </a:rPr>
              <a:t>Маленькие шаги тоже считаются</a:t>
            </a:r>
          </a:p>
        </p:txBody>
      </p:sp>
    </p:spTree>
    <p:extLst>
      <p:ext uri="{BB962C8B-B14F-4D97-AF65-F5344CB8AC3E}">
        <p14:creationId xmlns:p14="http://schemas.microsoft.com/office/powerpoint/2010/main" val="12329613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1705</Words>
  <Application>Microsoft Office PowerPoint</Application>
  <DocSecurity>0</DocSecurity>
  <PresentationFormat>Широкоэкранный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Aptos</vt:lpstr>
      <vt:lpstr>Segoe UI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Игнат Кайенов</cp:lastModifiedBy>
  <cp:revision>1</cp:revision>
  <dcterms:created xsi:type="dcterms:W3CDTF">2026-10-25T14:11:43Z</dcterms:created>
  <dcterms:modified xsi:type="dcterms:W3CDTF">2026-10-25T14:11:49Z</dcterms:modified>
</cp:coreProperties>
</file>